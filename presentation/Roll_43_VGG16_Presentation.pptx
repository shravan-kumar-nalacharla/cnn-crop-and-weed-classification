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f78df373c44473" /><Relationship Type="http://schemas.openxmlformats.org/officeDocument/2006/relationships/extended-properties" Target="/docProps/app.xml" Id="R6d6871ec05c04d7b" /><Relationship Type="http://schemas.openxmlformats.org/officeDocument/2006/relationships/officeDocument" Target="/ppt/presentation.xml" Id="Re126c3daa9f44f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9ebae7a5a4482e"/>
  </p:sldMasterIdLst>
  <p:notesMasterIdLst>
    <p:notesMasterId xmlns:r="http://schemas.openxmlformats.org/officeDocument/2006/relationships" r:id="R37b7ffac8cbc4518"/>
  </p:notesMasterIdLst>
  <p:sldIdLst>
    <p:sldId xmlns:r="http://schemas.openxmlformats.org/officeDocument/2006/relationships" id="256" r:id="R3896ca93c2644f98"/>
    <p:sldId xmlns:r="http://schemas.openxmlformats.org/officeDocument/2006/relationships" id="257" r:id="R61369a7bced048d2"/>
    <p:sldId xmlns:r="http://schemas.openxmlformats.org/officeDocument/2006/relationships" id="258" r:id="Rcea2e1ed2f494906"/>
    <p:sldId xmlns:r="http://schemas.openxmlformats.org/officeDocument/2006/relationships" id="259" r:id="R9392e7c4a6694d0c"/>
    <p:sldId xmlns:r="http://schemas.openxmlformats.org/officeDocument/2006/relationships" id="260" r:id="Rb365f069a67c4db4"/>
    <p:sldId xmlns:r="http://schemas.openxmlformats.org/officeDocument/2006/relationships" id="261" r:id="R1a69eacd3e3c41db"/>
    <p:sldId xmlns:r="http://schemas.openxmlformats.org/officeDocument/2006/relationships" id="262" r:id="Rb459f230a7804c6a"/>
    <p:sldId xmlns:r="http://schemas.openxmlformats.org/officeDocument/2006/relationships" id="263" r:id="Rb4fe3142b13e46c5"/>
    <p:sldId xmlns:r="http://schemas.openxmlformats.org/officeDocument/2006/relationships" id="264" r:id="Rb07f7a491aae498b"/>
    <p:sldId xmlns:r="http://schemas.openxmlformats.org/officeDocument/2006/relationships" id="265" r:id="Rdc4a0b365b994d43"/>
    <p:sldId xmlns:r="http://schemas.openxmlformats.org/officeDocument/2006/relationships" id="266" r:id="Rff317b8516764e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7b35db5f284ab7" /><Relationship Type="http://schemas.openxmlformats.org/officeDocument/2006/relationships/slideMaster" Target="/ppt/slideMasters/slideMaster1.xml" Id="Rd49ebae7a5a4482e" /><Relationship Type="http://schemas.openxmlformats.org/officeDocument/2006/relationships/notesMaster" Target="/ppt/notesMasters/notesMaster1.xml" Id="R37b7ffac8cbc4518" /><Relationship Type="http://schemas.openxmlformats.org/officeDocument/2006/relationships/presProps" Target="/ppt/presProps.xml" Id="R216ac5969a4b476e" /><Relationship Type="http://schemas.openxmlformats.org/officeDocument/2006/relationships/tableStyles" Target="/ppt/tableStyles.xml" Id="R7f8fc4700bbf4e9e" /><Relationship Type="http://schemas.openxmlformats.org/officeDocument/2006/relationships/slide" Target="/ppt/slides/slide1.xml" Id="R3896ca93c2644f98" /><Relationship Type="http://schemas.openxmlformats.org/officeDocument/2006/relationships/slide" Target="/ppt/slides/slide2.xml" Id="R61369a7bced048d2" /><Relationship Type="http://schemas.openxmlformats.org/officeDocument/2006/relationships/slide" Target="/ppt/slides/slide3.xml" Id="Rcea2e1ed2f494906" /><Relationship Type="http://schemas.openxmlformats.org/officeDocument/2006/relationships/slide" Target="/ppt/slides/slide4.xml" Id="R9392e7c4a6694d0c" /><Relationship Type="http://schemas.openxmlformats.org/officeDocument/2006/relationships/slide" Target="/ppt/slides/slide5.xml" Id="Rb365f069a67c4db4" /><Relationship Type="http://schemas.openxmlformats.org/officeDocument/2006/relationships/slide" Target="/ppt/slides/slide6.xml" Id="R1a69eacd3e3c41db" /><Relationship Type="http://schemas.openxmlformats.org/officeDocument/2006/relationships/slide" Target="/ppt/slides/slide7.xml" Id="Rb459f230a7804c6a" /><Relationship Type="http://schemas.openxmlformats.org/officeDocument/2006/relationships/slide" Target="/ppt/slides/slide8.xml" Id="Rb4fe3142b13e46c5" /><Relationship Type="http://schemas.openxmlformats.org/officeDocument/2006/relationships/slide" Target="/ppt/slides/slide9.xml" Id="Rb07f7a491aae498b" /><Relationship Type="http://schemas.openxmlformats.org/officeDocument/2006/relationships/slide" Target="/ppt/slides/slide10.xml" Id="Rdc4a0b365b994d43" /><Relationship Type="http://schemas.openxmlformats.org/officeDocument/2006/relationships/slide" Target="/ppt/slides/slide11.xml" Id="Rff317b8516764e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7a9371230546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2d9b3071a94354" /><Relationship Type="http://schemas.openxmlformats.org/officeDocument/2006/relationships/notesMaster" Target="/ppt/notesMasters/notesMaster1.xml" Id="R186b3b6f21b24b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588a36785c43c7" /><Relationship Type="http://schemas.openxmlformats.org/officeDocument/2006/relationships/notesMaster" Target="/ppt/notesMasters/notesMaster1.xml" Id="R9e2be031d22243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3de88501104545" /><Relationship Type="http://schemas.openxmlformats.org/officeDocument/2006/relationships/notesMaster" Target="/ppt/notesMasters/notesMaster1.xml" Id="R89d676b233634c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45d9b06f7c49d1" /><Relationship Type="http://schemas.openxmlformats.org/officeDocument/2006/relationships/notesMaster" Target="/ppt/notesMasters/notesMaster1.xml" Id="Rc5ee51fc0d5648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443c883ea94d16" /><Relationship Type="http://schemas.openxmlformats.org/officeDocument/2006/relationships/notesMaster" Target="/ppt/notesMasters/notesMaster1.xml" Id="Rda1620db6bfa45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26095f6d5244d4" /><Relationship Type="http://schemas.openxmlformats.org/officeDocument/2006/relationships/notesMaster" Target="/ppt/notesMasters/notesMaster1.xml" Id="R9af77859d26c46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3f0dfe902a4f8d" /><Relationship Type="http://schemas.openxmlformats.org/officeDocument/2006/relationships/notesMaster" Target="/ppt/notesMasters/notesMaster1.xml" Id="R3c4ef257e68a4a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71da2cb16d4d6b" /><Relationship Type="http://schemas.openxmlformats.org/officeDocument/2006/relationships/notesMaster" Target="/ppt/notesMasters/notesMaster1.xml" Id="R0388aba6e5ed41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a126fa4acd4aa7" /><Relationship Type="http://schemas.openxmlformats.org/officeDocument/2006/relationships/notesMaster" Target="/ppt/notesMasters/notesMaster1.xml" Id="Rd32bb71892ab4df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dede00dbcf04b5b" /><Relationship Type="http://schemas.openxmlformats.org/officeDocument/2006/relationships/notesMaster" Target="/ppt/notesMasters/notesMaster1.xml" Id="Rb18d0d155af445e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a1b52671b044eb4" /><Relationship Type="http://schemas.openxmlformats.org/officeDocument/2006/relationships/notesMaster" Target="/ppt/notesMasters/notesMaster1.xml" Id="R70eea34ab10746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40 seconds. Introduce the binary image-classification task and explain that this is an individual project using ImageNet transfer learning.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55 seconds. Explain why preserving crops while identifying weeds matters. Do not claim deployment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45 seconds. Describe the reproducibility and evaluation goals.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60 seconds. Explain that the mapping is project-specific. Original source describes roughly 960 plants at multiple growth stages. Sources: https://vision.eng.au.dk/plant-seedlings-dataset/ and https://www.kaggle.com/datasets/vbookshelf/v2-plant-seedlings-dataset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60 seconds. Explain why dividing by 255 would be incorrect here. Discuss flips, small rotation, zoom and translation. Source: https://www.tensorflow.org/api_docs/python/tf/keras/applications/VGG16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70 seconds. Explain convolution features, pooling and the binary output threshold of 0.5. Source: https://arxiv.org/abs/1409.1556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70 seconds. Explain that pretrained early features stay fixed and higher-level features adapt cautiously.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55 seconds. Weights use training labels only. Early stopping patience 3 and plateau patience 2. Explain lower fine-tuning learning rate.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60 seconds. Discuss overfitting using measured curves when available. Do not invent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55 seconds. Explain matrix rows as actual and columns as predicted. A crop predicted as weed can be costly.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30 seconds. Conclude honestly about implementation and pending or measured results. Sum of slide timings is 600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05ed2d4ff34e1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8f2dbf23424d5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8cd17375874fe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732a9db76049e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54d751c621474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1da0c644294e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ADEAFF-CB86-4F29-9FA3-DE776A6A87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5CC9607-1838-43F4-9203-8FF7AD971E2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CEE88AB-3960-44E2-B7FB-6CE33D27EB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E7278A-3A4E-47D6-9D2F-6B054F43EF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24E2EFD-A481-46E6-BBA9-8056C600FC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0465A2F-3346-4AEE-9C03-F22B5EF28D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65CA65E-C64D-4DDF-B3BB-498E9C0EC3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957B75D-AAAC-4A39-9564-1FFD1D33662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A574A3-EDD4-4A64-955C-F751E72D07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FCA03D1-5189-4820-A037-07EC56FDED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ba354f752247cb" /><Relationship Type="http://schemas.openxmlformats.org/officeDocument/2006/relationships/slideLayout" Target="/ppt/slideLayouts/slideLayout1.xml" Id="R0b5322b4c1d04c3e" /><Relationship Type="http://schemas.openxmlformats.org/officeDocument/2006/relationships/slideLayout" Target="/ppt/slideLayouts/slideLayout2.xml" Id="R5d8e33acee8e4365" /><Relationship Type="http://schemas.openxmlformats.org/officeDocument/2006/relationships/slideLayout" Target="/ppt/slideLayouts/slideLayout3.xml" Id="R75655f39033d4f97" /><Relationship Type="http://schemas.openxmlformats.org/officeDocument/2006/relationships/slideLayout" Target="/ppt/slideLayouts/slideLayout4.xml" Id="R4c229ae193ec4295" /><Relationship Type="http://schemas.openxmlformats.org/officeDocument/2006/relationships/slideLayout" Target="/ppt/slideLayouts/slideLayout5.xml" Id="Rd8bf7a70498c443b" /><Relationship Type="http://schemas.openxmlformats.org/officeDocument/2006/relationships/slideLayout" Target="/ppt/slideLayouts/slideLayout6.xml" Id="Rd4f02079df6a4a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5322b4c1d04c3e"/>
    <p:sldLayoutId xmlns:r="http://schemas.openxmlformats.org/officeDocument/2006/relationships" id="2147483650" r:id="R5d8e33acee8e4365"/>
    <p:sldLayoutId xmlns:r="http://schemas.openxmlformats.org/officeDocument/2006/relationships" id="2147483651" r:id="R75655f39033d4f97"/>
    <p:sldLayoutId xmlns:r="http://schemas.openxmlformats.org/officeDocument/2006/relationships" id="2147483652" r:id="R4c229ae193ec4295"/>
    <p:sldLayoutId xmlns:r="http://schemas.openxmlformats.org/officeDocument/2006/relationships" id="2147483653" r:id="Rd8bf7a70498c443b"/>
    <p:sldLayoutId xmlns:r="http://schemas.openxmlformats.org/officeDocument/2006/relationships" id="2147483654" r:id="Rd4f02079df6a4a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7d1e9e582e4aee" /><Relationship Type="http://schemas.openxmlformats.org/officeDocument/2006/relationships/notesSlide" Target="/ppt/notesSlides/notesSlide1.xml" Id="R73a114c20f5849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984290f89c4c6a" /><Relationship Type="http://schemas.openxmlformats.org/officeDocument/2006/relationships/notesSlide" Target="/ppt/notesSlides/notesSlide2.xml" Id="R4a0456b4318b44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75be40fbda4821" /><Relationship Type="http://schemas.openxmlformats.org/officeDocument/2006/relationships/notesSlide" Target="/ppt/notesSlides/notesSlide3.xml" Id="R8b636268fb8b44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7ea6a902ad4a90" /><Relationship Type="http://schemas.openxmlformats.org/officeDocument/2006/relationships/notesSlide" Target="/ppt/notesSlides/notesSlide4.xml" Id="R393797849e4c4e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7a109741a64050" /><Relationship Type="http://schemas.openxmlformats.org/officeDocument/2006/relationships/notesSlide" Target="/ppt/notesSlides/notesSlide5.xml" Id="R95e7b48a24f547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c2222800f14a93" /><Relationship Type="http://schemas.openxmlformats.org/officeDocument/2006/relationships/notesSlide" Target="/ppt/notesSlides/notesSlide6.xml" Id="R05b5fc5f99c14c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aae821c24c4d10" /><Relationship Type="http://schemas.openxmlformats.org/officeDocument/2006/relationships/notesSlide" Target="/ppt/notesSlides/notesSlide7.xml" Id="R3770662174a64f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318b4211b54f7c" /><Relationship Type="http://schemas.openxmlformats.org/officeDocument/2006/relationships/notesSlide" Target="/ppt/notesSlides/notesSlide8.xml" Id="Rbf2ecbc3483d40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aa722e9d704d47" /><Relationship Type="http://schemas.openxmlformats.org/officeDocument/2006/relationships/notesSlide" Target="/ppt/notesSlides/notesSlide9.xml" Id="Rac941050e3cd46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73ed5c553b46ce" /><Relationship Type="http://schemas.openxmlformats.org/officeDocument/2006/relationships/notesSlide" Target="/ppt/notesSlides/notesSlide10.xml" Id="R2776847e1a794c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6d9db82f764a81" /><Relationship Type="http://schemas.openxmlformats.org/officeDocument/2006/relationships/notesSlide" Target="/ppt/notesSlides/notesSlide11.xml" Id="R96f96e11cdd04c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894EB6-9677-4254-8493-88DB2D44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163C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163C2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63C2F"/>
                </a:solidFill>
                <a:latin typeface="Arial"/>
                <a:ea typeface="Arial"/>
                <a:cs typeface="Arial"/>
              </a:rPr>
              <a:t>CNN Crop and Weed</a:t>
            </a:r>
          </a:p>
          <a:p xmlns:a="http://schemas.openxmlformats.org/drawingml/2006/main">
            <a:pPr>
              <a:defRPr sz="4200" b="1">
                <a:solidFill>
                  <a:srgbClr val="163C2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63C2F"/>
                </a:solidFill>
                <a:latin typeface="Arial"/>
                <a:ea typeface="Arial"/>
                <a:cs typeface="Arial"/>
              </a:rPr>
              <a:t>Classification using VGG16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D1746A-FC53-447B-8A9F-5F6E553E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8204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32E"/>
                </a:solidFill>
                <a:latin typeface="Arial"/>
                <a:ea typeface="Arial"/>
                <a:cs typeface="Arial"/>
              </a:rPr>
              <a:t>Individual Deep Learning study project</a:t>
            </a:r>
          </a:p>
          <a:p xmlns:a="http://schemas.openxmlformats.org/drawingml/2006/main">
            <a: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32E"/>
                </a:solidFill>
                <a:latin typeface="Arial"/>
                <a:ea typeface="Arial"/>
                <a:cs typeface="Arial"/>
              </a:rPr>
              <a:t>Nalacherla Shravan Kumar</a:t>
            </a:r>
          </a:p>
          <a:p xmlns:a="http://schemas.openxmlformats.org/drawingml/2006/main">
            <a: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32E"/>
                </a:solidFill>
                <a:latin typeface="Arial"/>
                <a:ea typeface="Arial"/>
                <a:cs typeface="Arial"/>
              </a:rPr>
              <a:t>23EG110C43 • Roll Number 43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0FF284-CF0C-4F00-A528-5B15BB9E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5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575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568"/>
                </a:solidFill>
                <a:latin typeface="Arial"/>
                <a:ea typeface="Arial"/>
                <a:cs typeface="Arial"/>
              </a:rPr>
              <a:t>Roll 43   /   1 of 11</a:t>
            </a:r>
          </a:p>
        </p:txBody>
      </p:sp>
    </p:spTree>
    <p:extLst>
      <p:ext uri="{BB962C8B-B14F-4D97-AF65-F5344CB8AC3E}">
        <p14:creationId xmlns:p14="http://schemas.microsoft.com/office/powerpoint/2010/main" val="20234667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632EE7-6374-41E5-9C69-3E36F71F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3C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3C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C2F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FA208-D147-418B-961F-AD6779E2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32E"/>
                </a:solidFill>
                <a:latin typeface="Arial"/>
                <a:ea typeface="Arial"/>
                <a:cs typeface="Arial"/>
              </a:rPr>
              <a:t>Seedlings can look similar across species.</a:t>
            </a:r>
          </a:p>
          <a:p xmlns:a="http://schemas.openxmlformats.org/drawingml/2006/main">
            <a: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32E"/>
                </a:solidFill>
                <a:latin typeface="Arial"/>
                <a:ea typeface="Arial"/>
                <a:cs typeface="Arial"/>
              </a:rPr>
              <a:t>The classifier predicts Crop or Weed from an RGB image.</a:t>
            </a:r>
          </a:p>
          <a:p xmlns:a="http://schemas.openxmlformats.org/drawingml/2006/main">
            <a: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32E"/>
                </a:solidFill>
                <a:latin typeface="Arial"/>
                <a:ea typeface="Arial"/>
                <a:cs typeface="Arial"/>
              </a:rPr>
              <a:t>Controlled dataset performance needs field validation.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CCD39E-BC91-43B4-9AFA-44913786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5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575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568"/>
                </a:solidFill>
                <a:latin typeface="Arial"/>
                <a:ea typeface="Arial"/>
                <a:cs typeface="Arial"/>
              </a:rPr>
              <a:t>Roll 43   /   2 of 11</a:t>
            </a:r>
          </a:p>
        </p:txBody>
      </p:sp>
    </p:spTree>
    <p:extLst>
      <p:ext uri="{BB962C8B-B14F-4D97-AF65-F5344CB8AC3E}">
        <p14:creationId xmlns:p14="http://schemas.microsoft.com/office/powerpoint/2010/main" val="2251125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42286-C0C8-4726-AF23-0929E406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3C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3C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C2F"/>
                </a:solidFill>
                <a:latin typeface="Arial"/>
                <a:ea typeface="Arial"/>
                <a:cs typeface="Arial"/>
              </a:rPr>
              <a:t>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ABAFC3-FAD7-4D84-906A-427F7648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32E"/>
                </a:solidFill>
                <a:latin typeface="Arial"/>
                <a:ea typeface="Arial"/>
                <a:cs typeface="Arial"/>
              </a:rPr>
              <a:t>Adapt ImageNet VGG16 to a binary classifier.</a:t>
            </a:r>
          </a:p>
          <a:p xmlns:a="http://schemas.openxmlformats.org/drawingml/2006/main">
            <a: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32E"/>
                </a:solidFill>
                <a:latin typeface="Arial"/>
                <a:ea typeface="Arial"/>
                <a:cs typeface="Arial"/>
              </a:rPr>
              <a:t>Keep training, validation and test images separate.</a:t>
            </a:r>
          </a:p>
          <a:p xmlns:a="http://schemas.openxmlformats.org/drawingml/2006/main">
            <a: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32E"/>
                </a:solidFill>
                <a:latin typeface="Arial"/>
                <a:ea typeface="Arial"/>
                <a:cs typeface="Arial"/>
              </a:rPr>
              <a:t>Measure class recall, precision, F1 and AUC.</a:t>
            </a:r>
          </a:p>
          <a:p xmlns:a="http://schemas.openxmlformats.org/drawingml/2006/main">
            <a: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32E"/>
                </a:solidFill>
                <a:latin typeface="Arial"/>
                <a:ea typeface="Arial"/>
                <a:cs typeface="Arial"/>
              </a:rPr>
              <a:t>Provide a reproducible local Jupyter workflow.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B1AA3F-1B0E-401D-BB7E-06C4C20E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5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575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568"/>
                </a:solidFill>
                <a:latin typeface="Arial"/>
                <a:ea typeface="Arial"/>
                <a:cs typeface="Arial"/>
              </a:rPr>
              <a:t>Roll 43   /   3 of 11</a:t>
            </a:r>
          </a:p>
        </p:txBody>
      </p:sp>
    </p:spTree>
    <p:extLst>
      <p:ext uri="{BB962C8B-B14F-4D97-AF65-F5344CB8AC3E}">
        <p14:creationId xmlns:p14="http://schemas.microsoft.com/office/powerpoint/2010/main" val="18324201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3765CA-4362-47C5-8D4D-736DE955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3C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3C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C2F"/>
                </a:solidFill>
                <a:latin typeface="Arial"/>
                <a:ea typeface="Arial"/>
                <a:cs typeface="Arial"/>
              </a:rPr>
              <a:t>Dataset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3DF04-BB5A-49C8-8BDB-DBA222B8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32E"/>
                </a:solidFill>
                <a:latin typeface="Arial"/>
                <a:ea typeface="Arial"/>
                <a:cs typeface="Arial"/>
              </a:rPr>
              <a:t>V2 Plant Seedlings: 5,539 RGB images, 12 species.</a:t>
            </a:r>
          </a:p>
          <a:p xmlns:a="http://schemas.openxmlformats.org/drawingml/2006/main">
            <a: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32E"/>
                </a:solidFill>
                <a:latin typeface="Arial"/>
                <a:ea typeface="Arial"/>
                <a:cs typeface="Arial"/>
              </a:rPr>
              <a:t>Crop: Maize, Common Wheat and Sugar Beet.</a:t>
            </a:r>
          </a:p>
          <a:p xmlns:a="http://schemas.openxmlformats.org/drawingml/2006/main">
            <a: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32E"/>
                </a:solidFill>
                <a:latin typeface="Arial"/>
                <a:ea typeface="Arial"/>
                <a:cs typeface="Arial"/>
              </a:rPr>
              <a:t>Weed: the remaining nine species.</a:t>
            </a:r>
          </a:p>
          <a:p xmlns:a="http://schemas.openxmlformats.org/drawingml/2006/main">
            <a: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32E"/>
                </a:solidFill>
                <a:latin typeface="Arial"/>
                <a:ea typeface="Arial"/>
                <a:cs typeface="Arial"/>
              </a:rPr>
              <a:t>CC BY-SA 4.0 with source attribution.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725799-9428-4415-95E8-69AE0EC5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5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575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568"/>
                </a:solidFill>
                <a:latin typeface="Arial"/>
                <a:ea typeface="Arial"/>
                <a:cs typeface="Arial"/>
              </a:rPr>
              <a:t>Roll 43   /   4 of 11</a:t>
            </a:r>
          </a:p>
        </p:txBody>
      </p:sp>
    </p:spTree>
    <p:extLst>
      <p:ext uri="{BB962C8B-B14F-4D97-AF65-F5344CB8AC3E}">
        <p14:creationId xmlns:p14="http://schemas.microsoft.com/office/powerpoint/2010/main" val="16130109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93110-C510-41F0-866C-42D96C06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3C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3C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C2F"/>
                </a:solidFill>
                <a:latin typeface="Arial"/>
                <a:ea typeface="Arial"/>
                <a:cs typeface="Arial"/>
              </a:rPr>
              <a:t>Preprocessing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24B0C-06E0-4EDB-BAFB-0D5295D9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32E"/>
                </a:solidFill>
                <a:latin typeface="Arial"/>
                <a:ea typeface="Arial"/>
                <a:cs typeface="Arial"/>
              </a:rPr>
              <a:t>224 × 224 RGB images, raw pixels in 0–255.</a:t>
            </a:r>
          </a:p>
          <a:p xmlns:a="http://schemas.openxmlformats.org/drawingml/2006/main">
            <a: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32E"/>
                </a:solidFill>
                <a:latin typeface="Arial"/>
                <a:ea typeface="Arial"/>
                <a:cs typeface="Arial"/>
              </a:rPr>
              <a:t>VGG16 converts RGB to BGR and subtracts channel means.</a:t>
            </a:r>
          </a:p>
          <a:p xmlns:a="http://schemas.openxmlformats.org/drawingml/2006/main">
            <a: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32E"/>
                </a:solidFill>
                <a:latin typeface="Arial"/>
                <a:ea typeface="Arial"/>
                <a:cs typeface="Arial"/>
              </a:rPr>
              <a:t>Seed 42, stratified 70% / 15% / 15% split.</a:t>
            </a:r>
          </a:p>
          <a:p xmlns:a="http://schemas.openxmlformats.org/drawingml/2006/main">
            <a: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32E"/>
                </a:solidFill>
                <a:latin typeface="Arial"/>
                <a:ea typeface="Arial"/>
                <a:cs typeface="Arial"/>
              </a:rPr>
              <a:t>Augmentation only during training.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724B95-BDB0-47FA-AD04-66023D94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5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575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568"/>
                </a:solidFill>
                <a:latin typeface="Arial"/>
                <a:ea typeface="Arial"/>
                <a:cs typeface="Arial"/>
              </a:rPr>
              <a:t>Roll 43   /   5 of 11</a:t>
            </a:r>
          </a:p>
        </p:txBody>
      </p:sp>
    </p:spTree>
    <p:extLst>
      <p:ext uri="{BB962C8B-B14F-4D97-AF65-F5344CB8AC3E}">
        <p14:creationId xmlns:p14="http://schemas.microsoft.com/office/powerpoint/2010/main" val="14352513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14B537-3E56-4560-817B-37F252D2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3C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3C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C2F"/>
                </a:solidFill>
                <a:latin typeface="Arial"/>
                <a:ea typeface="Arial"/>
                <a:cs typeface="Arial"/>
              </a:rPr>
              <a:t>VGG16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3758D5-A988-4507-9E98-C2EEB3C4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32E"/>
                </a:solidFill>
                <a:latin typeface="Arial"/>
                <a:ea typeface="Arial"/>
                <a:cs typeface="Arial"/>
              </a:rPr>
              <a:t>ImageNet base with 13 convolution layers in five blocks.</a:t>
            </a:r>
          </a:p>
          <a:p xmlns:a="http://schemas.openxmlformats.org/drawingml/2006/main">
            <a: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32E"/>
                </a:solidFill>
                <a:latin typeface="Arial"/>
                <a:ea typeface="Arial"/>
                <a:cs typeface="Arial"/>
              </a:rPr>
              <a:t>Global average pooling replaces the original classifier.</a:t>
            </a:r>
          </a:p>
          <a:p xmlns:a="http://schemas.openxmlformats.org/drawingml/2006/main">
            <a: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32E"/>
                </a:solidFill>
                <a:latin typeface="Arial"/>
                <a:ea typeface="Arial"/>
                <a:cs typeface="Arial"/>
              </a:rPr>
              <a:t>Dense 128 ReLU and Dropout 0.5.</a:t>
            </a:r>
          </a:p>
          <a:p xmlns:a="http://schemas.openxmlformats.org/drawingml/2006/main">
            <a: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32E"/>
                </a:solidFill>
                <a:latin typeface="Arial"/>
                <a:ea typeface="Arial"/>
                <a:cs typeface="Arial"/>
              </a:rPr>
              <a:t>One sigmoid estimates Weed probability.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1128F0-3A97-4197-B07F-5EE2220A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5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575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568"/>
                </a:solidFill>
                <a:latin typeface="Arial"/>
                <a:ea typeface="Arial"/>
                <a:cs typeface="Arial"/>
              </a:rPr>
              <a:t>Roll 43   /   6 of 11</a:t>
            </a:r>
          </a:p>
        </p:txBody>
      </p:sp>
    </p:spTree>
    <p:extLst>
      <p:ext uri="{BB962C8B-B14F-4D97-AF65-F5344CB8AC3E}">
        <p14:creationId xmlns:p14="http://schemas.microsoft.com/office/powerpoint/2010/main" val="13154877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F67EDC-1FC9-4828-9CAE-8A58DF69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3C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3C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C2F"/>
                </a:solidFill>
                <a:latin typeface="Arial"/>
                <a:ea typeface="Arial"/>
                <a:cs typeface="Arial"/>
              </a:rPr>
              <a:t>Transfer learning procedure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048FD8-8772-4703-B6FF-EA896F9C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32E"/>
                </a:solidFill>
                <a:latin typeface="Arial"/>
                <a:ea typeface="Arial"/>
                <a:cs typeface="Arial"/>
              </a:rPr>
              <a:t>Phase 1: freeze the base and train the new head.</a:t>
            </a:r>
          </a:p>
          <a:p xmlns:a="http://schemas.openxmlformats.org/drawingml/2006/main">
            <a: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32E"/>
                </a:solidFill>
                <a:latin typeface="Arial"/>
                <a:ea typeface="Arial"/>
                <a:cs typeface="Arial"/>
              </a:rPr>
              <a:t>Phase 2: unfreeze block5 and recompile.</a:t>
            </a:r>
          </a:p>
          <a:p xmlns:a="http://schemas.openxmlformats.org/drawingml/2006/main">
            <a: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32E"/>
                </a:solidFill>
                <a:latin typeface="Arial"/>
                <a:ea typeface="Arial"/>
                <a:cs typeface="Arial"/>
              </a:rPr>
              <a:t>Keep blocks 1–4 frozen.</a:t>
            </a:r>
          </a:p>
          <a:p xmlns:a="http://schemas.openxmlformats.org/drawingml/2006/main">
            <a: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32E"/>
                </a:solidFill>
                <a:latin typeface="Arial"/>
                <a:ea typeface="Arial"/>
                <a:cs typeface="Arial"/>
              </a:rPr>
              <a:t>Reload the best validation-loss checkpoint.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464119-21B1-4B9D-BE0F-FC084223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5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575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568"/>
                </a:solidFill>
                <a:latin typeface="Arial"/>
                <a:ea typeface="Arial"/>
                <a:cs typeface="Arial"/>
              </a:rPr>
              <a:t>Roll 43   /   7 of 11</a:t>
            </a:r>
          </a:p>
        </p:txBody>
      </p:sp>
    </p:spTree>
    <p:extLst>
      <p:ext uri="{BB962C8B-B14F-4D97-AF65-F5344CB8AC3E}">
        <p14:creationId xmlns:p14="http://schemas.microsoft.com/office/powerpoint/2010/main" val="2842782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60549-0469-4283-94A2-641CD92A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3C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3C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C2F"/>
                </a:solidFill>
                <a:latin typeface="Arial"/>
                <a:ea typeface="Arial"/>
                <a:cs typeface="Arial"/>
              </a:rPr>
              <a:t>Hyperparameters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9EF4E8-DBC0-4202-81E7-199E5F39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32E"/>
                </a:solidFill>
                <a:latin typeface="Arial"/>
                <a:ea typeface="Arial"/>
                <a:cs typeface="Arial"/>
              </a:rPr>
              <a:t>Batch 16 by default, configurable for laptop memory.</a:t>
            </a:r>
          </a:p>
          <a:p xmlns:a="http://schemas.openxmlformats.org/drawingml/2006/main">
            <a: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32E"/>
                </a:solidFill>
                <a:latin typeface="Arial"/>
                <a:ea typeface="Arial"/>
                <a:cs typeface="Arial"/>
              </a:rPr>
              <a:t>Head: Adam 0.001, maximum 10 epochs.</a:t>
            </a:r>
          </a:p>
          <a:p xmlns:a="http://schemas.openxmlformats.org/drawingml/2006/main">
            <a: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32E"/>
                </a:solidFill>
                <a:latin typeface="Arial"/>
                <a:ea typeface="Arial"/>
                <a:cs typeface="Arial"/>
              </a:rPr>
              <a:t>Block5: Adam 0.00001, maximum 5 more epochs.</a:t>
            </a:r>
          </a:p>
          <a:p xmlns:a="http://schemas.openxmlformats.org/drawingml/2006/main">
            <a: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32E"/>
                </a:solidFill>
                <a:latin typeface="Arial"/>
                <a:ea typeface="Arial"/>
                <a:cs typeface="Arial"/>
              </a:rPr>
              <a:t>Binary cross-entropy and balanced class weights.</a:t>
            </a:r>
          </a:p>
          <a:p xmlns:a="http://schemas.openxmlformats.org/drawingml/2006/main">
            <a: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32E"/>
                </a:solidFill>
                <a:latin typeface="Arial"/>
                <a:ea typeface="Arial"/>
                <a:cs typeface="Arial"/>
              </a:rPr>
              <a:t>Early stopping and learning-rate reduction.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9ED750-1E39-4BC3-89B3-B9874BCF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5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575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568"/>
                </a:solidFill>
                <a:latin typeface="Arial"/>
                <a:ea typeface="Arial"/>
                <a:cs typeface="Arial"/>
              </a:rPr>
              <a:t>Roll 43   /   8 of 11</a:t>
            </a:r>
          </a:p>
        </p:txBody>
      </p:sp>
    </p:spTree>
    <p:extLst>
      <p:ext uri="{BB962C8B-B14F-4D97-AF65-F5344CB8AC3E}">
        <p14:creationId xmlns:p14="http://schemas.microsoft.com/office/powerpoint/2010/main" val="13465851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D89C5-C0C3-4EE2-A195-08EDAA07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3C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3C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C2F"/>
                </a:solidFill>
                <a:latin typeface="Arial"/>
                <a:ea typeface="Arial"/>
                <a:cs typeface="Arial"/>
              </a:rPr>
              <a:t>Accuracy and loss graphs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969290-5F16-4E01-96F3-B379BA8C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32E"/>
                </a:solidFill>
                <a:latin typeface="Arial"/>
                <a:ea typeface="Arial"/>
                <a:cs typeface="Arial"/>
              </a:rPr>
              <a:t>FULL TRAINING RESULTS PENDING</a:t>
            </a:r>
          </a:p>
          <a:p xmlns:a="http://schemas.openxmlformats.org/drawingml/2006/main">
            <a: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32E"/>
                </a:solidFill>
                <a:latin typeface="Arial"/>
                <a:ea typeface="Arial"/>
                <a:cs typeface="Arial"/>
              </a:rPr>
              <a:t>Accuracy and loss graphs will come from generated outputs.</a:t>
            </a:r>
          </a:p>
          <a:p xmlns:a="http://schemas.openxmlformats.org/drawingml/2006/main">
            <a: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32E"/>
                </a:solidFill>
                <a:latin typeface="Arial"/>
                <a:ea typeface="Arial"/>
                <a:cs typeface="Arial"/>
              </a:rPr>
              <a:t>Smoke-test metrics verify execution only.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DE6427-6AC8-493F-80B9-51D12AA3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5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575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568"/>
                </a:solidFill>
                <a:latin typeface="Arial"/>
                <a:ea typeface="Arial"/>
                <a:cs typeface="Arial"/>
              </a:rPr>
              <a:t>Roll 43   /   9 of 11</a:t>
            </a:r>
          </a:p>
        </p:txBody>
      </p:sp>
    </p:spTree>
    <p:extLst>
      <p:ext uri="{BB962C8B-B14F-4D97-AF65-F5344CB8AC3E}">
        <p14:creationId xmlns:p14="http://schemas.microsoft.com/office/powerpoint/2010/main" val="4845546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32EB80-47E6-4FA6-9542-642A626B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3C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3C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C2F"/>
                </a:solidFill>
                <a:latin typeface="Arial"/>
                <a:ea typeface="Arial"/>
                <a:cs typeface="Arial"/>
              </a:rPr>
              <a:t>Confusion matrix and predictions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A1CCF-10AE-4F38-8349-C2E0F52D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32E"/>
                </a:solidFill>
                <a:latin typeface="Arial"/>
                <a:ea typeface="Arial"/>
                <a:cs typeface="Arial"/>
              </a:rPr>
              <a:t>FULL TRAINING RESULTS PENDING</a:t>
            </a:r>
          </a:p>
          <a:p xmlns:a="http://schemas.openxmlformats.org/drawingml/2006/main">
            <a: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32E"/>
                </a:solidFill>
                <a:latin typeface="Arial"/>
                <a:ea typeface="Arial"/>
                <a:cs typeface="Arial"/>
              </a:rPr>
              <a:t>Insert generated confusion matrix and test predictions.</a:t>
            </a:r>
          </a:p>
          <a:p xmlns:a="http://schemas.openxmlformats.org/drawingml/2006/main">
            <a: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32E"/>
                </a:solidFill>
                <a:latin typeface="Arial"/>
                <a:ea typeface="Arial"/>
                <a:cs typeface="Arial"/>
              </a:rPr>
              <a:t>Prioritize Crop recall when interpreting errors.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EB8801-82FE-4BC0-88C1-D574E204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5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575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568"/>
                </a:solidFill>
                <a:latin typeface="Arial"/>
                <a:ea typeface="Arial"/>
                <a:cs typeface="Arial"/>
              </a:rPr>
              <a:t>Roll 43   /   10 of 11</a:t>
            </a:r>
          </a:p>
        </p:txBody>
      </p:sp>
    </p:spTree>
    <p:extLst>
      <p:ext uri="{BB962C8B-B14F-4D97-AF65-F5344CB8AC3E}">
        <p14:creationId xmlns:p14="http://schemas.microsoft.com/office/powerpoint/2010/main" val="589656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64F97C-FF7D-4DA4-B809-C1EBCDA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3C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3C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C2F"/>
                </a:solidFill>
                <a:latin typeface="Arial"/>
                <a:ea typeface="Arial"/>
                <a:cs typeface="Arial"/>
              </a:rPr>
              <a:t>Conclusion and 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40EA80-D06D-43D6-AFC5-99E45163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32E"/>
                </a:solidFill>
                <a:latin typeface="Arial"/>
                <a:ea typeface="Arial"/>
                <a:cs typeface="Arial"/>
              </a:rPr>
              <a:t>VGG16 provides a reproducible transfer-learning baseline.</a:t>
            </a:r>
          </a:p>
          <a:p xmlns:a="http://schemas.openxmlformats.org/drawingml/2006/main">
            <a: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32E"/>
                </a:solidFill>
                <a:latin typeface="Arial"/>
                <a:ea typeface="Arial"/>
                <a:cs typeface="Arial"/>
              </a:rPr>
              <a:t>CPU execution is supported in local Jupyter.</a:t>
            </a:r>
          </a:p>
          <a:p xmlns:a="http://schemas.openxmlformats.org/drawingml/2006/main">
            <a: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32E"/>
                </a:solidFill>
                <a:latin typeface="Arial"/>
                <a:ea typeface="Arial"/>
                <a:cs typeface="Arial"/>
              </a:rPr>
              <a:t>Controlled backgrounds and repeated plants limit generalization.</a:t>
            </a:r>
          </a:p>
          <a:p xmlns:a="http://schemas.openxmlformats.org/drawingml/2006/main">
            <a:pPr>
              <a:defRPr sz="2400" b="0">
                <a:solidFill>
                  <a:srgbClr val="25332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32E"/>
                </a:solidFill>
                <a:latin typeface="Arial"/>
                <a:ea typeface="Arial"/>
                <a:cs typeface="Arial"/>
              </a:rPr>
              <a:t>Future work: plant-level splits, field images and calibration.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0CDA0-4163-4DA6-AA3F-63646F82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5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575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568"/>
                </a:solidFill>
                <a:latin typeface="Arial"/>
                <a:ea typeface="Arial"/>
                <a:cs typeface="Arial"/>
              </a:rPr>
              <a:t>Roll 43   /   11 of 11</a:t>
            </a:r>
          </a:p>
        </p:txBody>
      </p:sp>
    </p:spTree>
    <p:extLst>
      <p:ext uri="{BB962C8B-B14F-4D97-AF65-F5344CB8AC3E}">
        <p14:creationId xmlns:p14="http://schemas.microsoft.com/office/powerpoint/2010/main" val="3409966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2026-10-12T19:31:34.9120000Z</dcterms:created>
  <dcterms:modified xsi:type="dcterms:W3CDTF">2026-10-12T19:31:34.9120000Z</dcterms:modified>
</coreProperties>
</file>