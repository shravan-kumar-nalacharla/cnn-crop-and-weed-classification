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bc9e8e5fd6471f" /><Relationship Type="http://schemas.openxmlformats.org/officeDocument/2006/relationships/extended-properties" Target="/docProps/app.xml" Id="Rbc3af8133f3c48c5" /><Relationship Type="http://schemas.openxmlformats.org/officeDocument/2006/relationships/officeDocument" Target="/ppt/presentation.xml" Id="R321e95faa6354b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32651815a64594"/>
  </p:sldMasterIdLst>
  <p:notesMasterIdLst>
    <p:notesMasterId xmlns:r="http://schemas.openxmlformats.org/officeDocument/2006/relationships" r:id="R4faa2651c23c432b"/>
  </p:notesMasterIdLst>
  <p:sldIdLst>
    <p:sldId xmlns:r="http://schemas.openxmlformats.org/officeDocument/2006/relationships" id="256" r:id="Rf850a109a74947b1"/>
    <p:sldId xmlns:r="http://schemas.openxmlformats.org/officeDocument/2006/relationships" id="257" r:id="Ra79e73e9089348ad"/>
    <p:sldId xmlns:r="http://schemas.openxmlformats.org/officeDocument/2006/relationships" id="258" r:id="R236c488a855e4330"/>
    <p:sldId xmlns:r="http://schemas.openxmlformats.org/officeDocument/2006/relationships" id="259" r:id="Re3642ad055bd459c"/>
    <p:sldId xmlns:r="http://schemas.openxmlformats.org/officeDocument/2006/relationships" id="260" r:id="R4a2eedfc4b114350"/>
    <p:sldId xmlns:r="http://schemas.openxmlformats.org/officeDocument/2006/relationships" id="261" r:id="Re6b430d1a44c4e8c"/>
    <p:sldId xmlns:r="http://schemas.openxmlformats.org/officeDocument/2006/relationships" id="262" r:id="R6ec2d47275be4b49"/>
    <p:sldId xmlns:r="http://schemas.openxmlformats.org/officeDocument/2006/relationships" id="263" r:id="R0f539af54f124d9f"/>
    <p:sldId xmlns:r="http://schemas.openxmlformats.org/officeDocument/2006/relationships" id="264" r:id="R535b4fec6fb54801"/>
    <p:sldId xmlns:r="http://schemas.openxmlformats.org/officeDocument/2006/relationships" id="265" r:id="R38ef2b2a5cbe46bc"/>
    <p:sldId xmlns:r="http://schemas.openxmlformats.org/officeDocument/2006/relationships" id="266" r:id="Rc8cecb0e26604c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e19d048cee4536" /><Relationship Type="http://schemas.openxmlformats.org/officeDocument/2006/relationships/slideMaster" Target="/ppt/slideMasters/slideMaster1.xml" Id="R3c32651815a64594" /><Relationship Type="http://schemas.openxmlformats.org/officeDocument/2006/relationships/notesMaster" Target="/ppt/notesMasters/notesMaster1.xml" Id="R4faa2651c23c432b" /><Relationship Type="http://schemas.openxmlformats.org/officeDocument/2006/relationships/presProps" Target="/ppt/presProps.xml" Id="Rad8b059f3a6d4392" /><Relationship Type="http://schemas.openxmlformats.org/officeDocument/2006/relationships/tableStyles" Target="/ppt/tableStyles.xml" Id="R3359c0c76acc45b3" /><Relationship Type="http://schemas.openxmlformats.org/officeDocument/2006/relationships/slide" Target="/ppt/slides/slide1.xml" Id="Rf850a109a74947b1" /><Relationship Type="http://schemas.openxmlformats.org/officeDocument/2006/relationships/slide" Target="/ppt/slides/slide2.xml" Id="Ra79e73e9089348ad" /><Relationship Type="http://schemas.openxmlformats.org/officeDocument/2006/relationships/slide" Target="/ppt/slides/slide3.xml" Id="R236c488a855e4330" /><Relationship Type="http://schemas.openxmlformats.org/officeDocument/2006/relationships/slide" Target="/ppt/slides/slide4.xml" Id="Re3642ad055bd459c" /><Relationship Type="http://schemas.openxmlformats.org/officeDocument/2006/relationships/slide" Target="/ppt/slides/slide5.xml" Id="R4a2eedfc4b114350" /><Relationship Type="http://schemas.openxmlformats.org/officeDocument/2006/relationships/slide" Target="/ppt/slides/slide6.xml" Id="Re6b430d1a44c4e8c" /><Relationship Type="http://schemas.openxmlformats.org/officeDocument/2006/relationships/slide" Target="/ppt/slides/slide7.xml" Id="R6ec2d47275be4b49" /><Relationship Type="http://schemas.openxmlformats.org/officeDocument/2006/relationships/slide" Target="/ppt/slides/slide8.xml" Id="R0f539af54f124d9f" /><Relationship Type="http://schemas.openxmlformats.org/officeDocument/2006/relationships/slide" Target="/ppt/slides/slide9.xml" Id="R535b4fec6fb54801" /><Relationship Type="http://schemas.openxmlformats.org/officeDocument/2006/relationships/slide" Target="/ppt/slides/slide10.xml" Id="R38ef2b2a5cbe46bc" /><Relationship Type="http://schemas.openxmlformats.org/officeDocument/2006/relationships/slide" Target="/ppt/slides/slide11.xml" Id="Rc8cecb0e26604c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86de82931147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4613eda33e42e0" /><Relationship Type="http://schemas.openxmlformats.org/officeDocument/2006/relationships/notesMaster" Target="/ppt/notesMasters/notesMaster1.xml" Id="R8210411a37e44e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eda08e206f471d" /><Relationship Type="http://schemas.openxmlformats.org/officeDocument/2006/relationships/notesMaster" Target="/ppt/notesMasters/notesMaster1.xml" Id="R0a8de64d07114c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42230b997f4610" /><Relationship Type="http://schemas.openxmlformats.org/officeDocument/2006/relationships/notesMaster" Target="/ppt/notesMasters/notesMaster1.xml" Id="R991dc1869ce64a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be9c1be3864800" /><Relationship Type="http://schemas.openxmlformats.org/officeDocument/2006/relationships/notesMaster" Target="/ppt/notesMasters/notesMaster1.xml" Id="R9d47bb2cdc344c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5effae34784969" /><Relationship Type="http://schemas.openxmlformats.org/officeDocument/2006/relationships/notesMaster" Target="/ppt/notesMasters/notesMaster1.xml" Id="R77c70498036a40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794caddc754bdc" /><Relationship Type="http://schemas.openxmlformats.org/officeDocument/2006/relationships/notesMaster" Target="/ppt/notesMasters/notesMaster1.xml" Id="Rae73151c512345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572caa94984163" /><Relationship Type="http://schemas.openxmlformats.org/officeDocument/2006/relationships/notesMaster" Target="/ppt/notesMasters/notesMaster1.xml" Id="Re4920891b9684d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53b866b93c4af3" /><Relationship Type="http://schemas.openxmlformats.org/officeDocument/2006/relationships/notesMaster" Target="/ppt/notesMasters/notesMaster1.xml" Id="Rdcc493b13f214a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1219c79a574bf6" /><Relationship Type="http://schemas.openxmlformats.org/officeDocument/2006/relationships/notesMaster" Target="/ppt/notesMasters/notesMaster1.xml" Id="Rca570f7661de4f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0c3462faa44a8f" /><Relationship Type="http://schemas.openxmlformats.org/officeDocument/2006/relationships/notesMaster" Target="/ppt/notesMasters/notesMaster1.xml" Id="R96bfe4ce04454a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4783f664bd4b96" /><Relationship Type="http://schemas.openxmlformats.org/officeDocument/2006/relationships/notesMaster" Target="/ppt/notesMasters/notesMaster1.xml" Id="R42429d6dba554a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30 seconds. Introduce the student, project and two binary categories. Sources: outputs/dataset_splits.csv, outputs/training_history.json, outputs/results_summary.json, outputs/test_predictions.csv. Dataset attribution: Giselsson et al. (2017), https://arxiv.org/abs/1711.05458, https://vision.eng.au.dk/plant-seedlings-dataset/,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50 seconds. Explain why crop protection requires reliable recognition, and why seedlings are visually challenging. This experiment studies classification on controlled images.</a:t>
            </a:r>
          </a:p>
          <a:p xmlns:a="http://schemas.openxmlformats.org/drawingml/2006/main">
            <a:r>
              <a:t>Sources: outputs/dataset_splits.csv, outputs/training_history.json, outputs/results_summary.json, outputs/test_predictions.csv. Dataset attribution: Giselsson et al. (2017), https://arxiv.org/abs/1711.05458, https://vision.eng.au.dk/plant-seedlings-dataset/,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70 seconds. Explain that the downloaded dataset has twelve species. Point to crop samples and the nine mapped weed species. All counts come from saved splits.</a:t>
            </a:r>
          </a:p>
          <a:p xmlns:a="http://schemas.openxmlformats.org/drawingml/2006/main">
            <a:r>
              <a:t>Sources: outputs/dataset_splits.csv, outputs/training_history.json, outputs/results_summary.json, outputs/test_predictions.csv. Dataset attribution: Giselsson et al. (2017), https://arxiv.org/abs/1711.05458, https://vision.eng.au.dk/plant-seedlings-dataset/,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55 seconds. Explain the 70/15/15 split. VGG16 requires raw 0–255 RGB pixels, channel reversal and mean subtraction. Augmentation happens after splitting.</a:t>
            </a:r>
          </a:p>
          <a:p xmlns:a="http://schemas.openxmlformats.org/drawingml/2006/main">
            <a:r>
              <a:t>Sources: outputs/dataset_splits.csv, outputs/training_history.json, outputs/results_summary.json, outputs/test_predictions.csv. Dataset attribution: Giselsson et al. (2017), https://arxiv.org/abs/1711.05458, https://vision.eng.au.dk/plant-seedlings-dataset/,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85 seconds. Walk through the editable diagram. Explain thirteen convolutions in five blocks, pooled features and one Weed probability. Blocks 1–4 remain frozen in fine-tuning.</a:t>
            </a:r>
          </a:p>
          <a:p xmlns:a="http://schemas.openxmlformats.org/drawingml/2006/main">
            <a:r>
              <a:t>Sources: outputs/dataset_splits.csv, outputs/training_history.json, outputs/results_summary.json, outputs/test_predictions.csv. Dataset attribution: Giselsson et al. (2017), https://arxiv.org/abs/1711.05458, https://vision.eng.au.dk/plant-seedlings-dataset/,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65 seconds. Describe the settings actually executed, rather than only default maximums. Class weights are calculated from training labels alone.</a:t>
            </a:r>
          </a:p>
          <a:p xmlns:a="http://schemas.openxmlformats.org/drawingml/2006/main">
            <a:r>
              <a:t>Sources: outputs/dataset_splits.csv, outputs/training_history.json, outputs/results_summary.json, outputs/test_predictions.csv. Dataset attribution: Giselsson et al. (2017), https://arxiv.org/abs/1711.05458, https://vision.eng.au.dk/plant-seedlings-dataset/,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65 seconds. The line chart is editable and uses the generated epoch history. The test set contains 831 images and was excluded from training and checkpoint selection.</a:t>
            </a:r>
          </a:p>
          <a:p xmlns:a="http://schemas.openxmlformats.org/drawingml/2006/main">
            <a:r>
              <a:t>Sources: outputs/dataset_splits.csv, outputs/training_history.json, outputs/results_summary.json, outputs/test_predictions.csv. Dataset attribution: Giselsson et al. (2017), https://arxiv.org/abs/1711.05458, https://vision.eng.au.dk/plant-seedlings-dataset/,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60 seconds. Explain binary cross-entropy. Discuss the measured training/validation gap without claiming field reliability. AUC measures ranking across thresholds.</a:t>
            </a:r>
          </a:p>
          <a:p xmlns:a="http://schemas.openxmlformats.org/drawingml/2006/main">
            <a:r>
              <a:t>Sources: outputs/dataset_splits.csv, outputs/training_history.json, outputs/results_summary.json, outputs/test_predictions.csv. Dataset attribution: Giselsson et al. (2017), https://arxiv.org/abs/1711.05458, https://vision.eng.au.dk/plant-seedlings-dataset/,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45 seconds. Interpret crop images incorrectly predicted as weeds, then compare both classes using precision, recall and F1.</a:t>
            </a:r>
          </a:p>
          <a:p xmlns:a="http://schemas.openxmlformats.org/drawingml/2006/main">
            <a:r>
              <a:t>Sources: outputs/dataset_splits.csv, outputs/training_history.json, outputs/results_summary.json, outputs/test_predictions.csv. Dataset attribution: Giselsson et al. (2017), https://arxiv.org/abs/1711.05458, https://vision.eng.au.dk/plant-seedlings-dataset/,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45 seconds. Show both correct and incorrect examples. Explain that probability is the sigmoid Weed score, not a calibrated guarantee.</a:t>
            </a:r>
          </a:p>
          <a:p xmlns:a="http://schemas.openxmlformats.org/drawingml/2006/main">
            <a:r>
              <a:t>Sources: outputs/dataset_splits.csv, outputs/training_history.json, outputs/results_summary.json, outputs/test_predictions.csv. Dataset attribution: Giselsson et al. (2017), https://arxiv.org/abs/1711.05458, https://vision.eng.au.dk/plant-seedlings-dataset/,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30 seconds. Conclude with actual measured test results. Explain that disjoint image paths do not guarantee independent plant identities across growth stages.</a:t>
            </a:r>
          </a:p>
          <a:p xmlns:a="http://schemas.openxmlformats.org/drawingml/2006/main">
            <a:r>
              <a:t>Sources: outputs/dataset_splits.csv, outputs/training_history.json, outputs/results_summary.json, outputs/test_predictions.csv. Dataset attribution: Giselsson et al. (2017), https://arxiv.org/abs/1711.05458, https://vision.eng.au.dk/plant-seedlings-dataset/,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49faece1841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53e12938747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5238fdbbe4f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87642c86041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9bb9c7efa47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288fba1144f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C1D307-F795-4712-888D-A0529A420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F1F17E-7CCE-4B1D-BC40-0065BF6BD3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F5AC1F-6002-478E-B3F7-5713F8D68C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CF20D8-3436-4EE2-9732-7B3402245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CBCEDC-962A-41E4-AA61-BC2EFE301F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260EE8-5B36-49C2-AFDE-FF495FD824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157FE5-08F1-4F5F-9D7D-E8E1B19549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BCE750-AD71-44F5-92EF-CC526AF0C3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A7DC6A-10BD-4DCE-96D4-E093DCACA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00EC15-4D74-49D0-BA4F-89C18074D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5468835f2f4fac" /><Relationship Type="http://schemas.openxmlformats.org/officeDocument/2006/relationships/slideLayout" Target="/ppt/slideLayouts/slideLayout1.xml" Id="R5d32aff9bd5e4196" /><Relationship Type="http://schemas.openxmlformats.org/officeDocument/2006/relationships/slideLayout" Target="/ppt/slideLayouts/slideLayout2.xml" Id="Rdf8877ca95114ea1" /><Relationship Type="http://schemas.openxmlformats.org/officeDocument/2006/relationships/slideLayout" Target="/ppt/slideLayouts/slideLayout3.xml" Id="R8356a8f5725a4f43" /><Relationship Type="http://schemas.openxmlformats.org/officeDocument/2006/relationships/slideLayout" Target="/ppt/slideLayouts/slideLayout4.xml" Id="R4eea4ac7bd114174" /><Relationship Type="http://schemas.openxmlformats.org/officeDocument/2006/relationships/slideLayout" Target="/ppt/slideLayouts/slideLayout5.xml" Id="Rdf59e9cddcf64fc6" /><Relationship Type="http://schemas.openxmlformats.org/officeDocument/2006/relationships/slideLayout" Target="/ppt/slideLayouts/slideLayout6.xml" Id="Raee1bc9dc39e49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32aff9bd5e4196"/>
    <p:sldLayoutId xmlns:r="http://schemas.openxmlformats.org/officeDocument/2006/relationships" id="2147483650" r:id="Rdf8877ca95114ea1"/>
    <p:sldLayoutId xmlns:r="http://schemas.openxmlformats.org/officeDocument/2006/relationships" id="2147483651" r:id="R8356a8f5725a4f43"/>
    <p:sldLayoutId xmlns:r="http://schemas.openxmlformats.org/officeDocument/2006/relationships" id="2147483652" r:id="R4eea4ac7bd114174"/>
    <p:sldLayoutId xmlns:r="http://schemas.openxmlformats.org/officeDocument/2006/relationships" id="2147483653" r:id="Rdf59e9cddcf64fc6"/>
    <p:sldLayoutId xmlns:r="http://schemas.openxmlformats.org/officeDocument/2006/relationships" id="2147483654" r:id="Raee1bc9dc39e49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0fbfafeea740d5" /><Relationship Type="http://schemas.openxmlformats.org/officeDocument/2006/relationships/image" Target="/ppt/media/image.png" Id="Rdb9f877ce2074785" /><Relationship Type="http://schemas.openxmlformats.org/officeDocument/2006/relationships/image" Target="/ppt/media/image2.png" Id="Ra6b119393a944948" /><Relationship Type="http://schemas.openxmlformats.org/officeDocument/2006/relationships/notesSlide" Target="/ppt/notesSlides/notesSlide1.xml" Id="R4e7700b159274b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606fdae6374b7b" /><Relationship Type="http://schemas.openxmlformats.org/officeDocument/2006/relationships/notesSlide" Target="/ppt/notesSlides/notesSlide2.xml" Id="R495fb92b29ee43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8b97cf5414eb7" /><Relationship Type="http://schemas.openxmlformats.org/officeDocument/2006/relationships/image" Target="/ppt/media/image3.png" Id="R90c68f82f1f24386" /><Relationship Type="http://schemas.openxmlformats.org/officeDocument/2006/relationships/image" Target="/ppt/media/image4.png" Id="R42b2a4b2686f4f08" /><Relationship Type="http://schemas.openxmlformats.org/officeDocument/2006/relationships/image" Target="/ppt/media/image5.png" Id="Re01686f1e3224dea" /><Relationship Type="http://schemas.openxmlformats.org/officeDocument/2006/relationships/image" Target="/ppt/media/image6.png" Id="R2b7f926c935347cb" /><Relationship Type="http://schemas.openxmlformats.org/officeDocument/2006/relationships/image" Target="/ppt/media/image7.png" Id="R5bf41e4568164fee" /><Relationship Type="http://schemas.openxmlformats.org/officeDocument/2006/relationships/image" Target="/ppt/media/image8.png" Id="R40ae8312920846f1" /><Relationship Type="http://schemas.openxmlformats.org/officeDocument/2006/relationships/notesSlide" Target="/ppt/notesSlides/notesSlide3.xml" Id="R1f688a0541a64c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f521f91754011" /><Relationship Type="http://schemas.openxmlformats.org/officeDocument/2006/relationships/chart" Target="/ppt/slides/charts/chart1.xml" Id="Rd4af50db8d634739" /><Relationship Type="http://schemas.openxmlformats.org/officeDocument/2006/relationships/notesSlide" Target="/ppt/notesSlides/notesSlide4.xml" Id="Rd743ea8c41d747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76414d3c74f98" /><Relationship Type="http://schemas.openxmlformats.org/officeDocument/2006/relationships/notesSlide" Target="/ppt/notesSlides/notesSlide5.xml" Id="Rf22010cd6eaa49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f2489fbd64b25" /><Relationship Type="http://schemas.openxmlformats.org/officeDocument/2006/relationships/notesSlide" Target="/ppt/notesSlides/notesSlide6.xml" Id="R57ae49381cd04e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d96c4a8b3411a" /><Relationship Type="http://schemas.openxmlformats.org/officeDocument/2006/relationships/chart" Target="/ppt/slides/charts/chart2.xml" Id="R9a4d4ce52f2a4694" /><Relationship Type="http://schemas.openxmlformats.org/officeDocument/2006/relationships/notesSlide" Target="/ppt/notesSlides/notesSlide7.xml" Id="R549a37740d764d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f139327f2490a" /><Relationship Type="http://schemas.openxmlformats.org/officeDocument/2006/relationships/chart" Target="/ppt/slides/charts/chart3.xml" Id="R17374dc9b33340c1" /><Relationship Type="http://schemas.openxmlformats.org/officeDocument/2006/relationships/notesSlide" Target="/ppt/notesSlides/notesSlide8.xml" Id="R9ae72bfc08ec4d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b6499b40ea4b4f" /><Relationship Type="http://schemas.openxmlformats.org/officeDocument/2006/relationships/notesSlide" Target="/ppt/notesSlides/notesSlide9.xml" Id="R11db8be02e7642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bda9a9ceb14986" /><Relationship Type="http://schemas.openxmlformats.org/officeDocument/2006/relationships/image" Target="/ppt/media/image9.png" Id="R1d0d782339784e2e" /><Relationship Type="http://schemas.openxmlformats.org/officeDocument/2006/relationships/image" Target="/ppt/media/image10.png" Id="R20b442f6a951470c" /><Relationship Type="http://schemas.openxmlformats.org/officeDocument/2006/relationships/image" Target="/ppt/media/image11.png" Id="R4de694d08c9d4a9a" /><Relationship Type="http://schemas.openxmlformats.org/officeDocument/2006/relationships/image" Target="/ppt/media/image12.png" Id="R2edf66ed59514a6a" /><Relationship Type="http://schemas.openxmlformats.org/officeDocument/2006/relationships/image" Target="/ppt/media/image13.png" Id="Raea483e202434c8f" /><Relationship Type="http://schemas.openxmlformats.org/officeDocument/2006/relationships/image" Target="/ppt/media/image14.png" Id="Rf7f5b90320574c08" /><Relationship Type="http://schemas.openxmlformats.org/officeDocument/2006/relationships/notesSlide" Target="/ppt/notesSlides/notesSlide10.xml" Id="R5276e5e809374f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7a406457f413d" /><Relationship Type="http://schemas.openxmlformats.org/officeDocument/2006/relationships/notesSlide" Target="/ppt/notesSlides/notesSlide11.xml" Id="Rfa6362182df9477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Binary class distribution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221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Images</c:v>
          </c:tx>
          <c:spPr>
            <a:solidFill xmlns:a="http://schemas.openxmlformats.org/drawingml/2006/main">
              <a:srgbClr val="2863A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CB7C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ED913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Crop</c:v>
                </c:pt>
                <c:pt idx="1">
                  <c:v>Weed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973</c:v>
                </c:pt>
                <c:pt idx="1">
                  <c:v>4566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Images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Training and validation 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2213D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28575">
              <a:solidFill>
                <a:srgbClr val="2863A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863A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0.776116</c:v>
                </c:pt>
                <c:pt idx="1">
                  <c:v>0.860459</c:v>
                </c:pt>
                <c:pt idx="2">
                  <c:v>0.875935</c:v>
                </c:pt>
                <c:pt idx="3">
                  <c:v>0.929585</c:v>
                </c:pt>
                <c:pt idx="4">
                  <c:v>0.950735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ED9133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ED9133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0.883273</c:v>
                </c:pt>
                <c:pt idx="1">
                  <c:v>0.807461</c:v>
                </c:pt>
                <c:pt idx="2">
                  <c:v>0.918171</c:v>
                </c:pt>
                <c:pt idx="3">
                  <c:v>0.941035</c:v>
                </c:pt>
                <c:pt idx="4">
                  <c:v>0.971119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Training and validation 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2213D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28575">
              <a:solidFill>
                <a:srgbClr val="2863A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863A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0.606164</c:v>
                </c:pt>
                <c:pt idx="1">
                  <c:v>0.332419</c:v>
                </c:pt>
                <c:pt idx="2">
                  <c:v>0.304568</c:v>
                </c:pt>
                <c:pt idx="3">
                  <c:v>0.187387</c:v>
                </c:pt>
                <c:pt idx="4">
                  <c:v>0.125231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ED9133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ED9133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0.272548</c:v>
                </c:pt>
                <c:pt idx="1">
                  <c:v>0.52234</c:v>
                </c:pt>
                <c:pt idx="2">
                  <c:v>0.176035</c:v>
                </c:pt>
                <c:pt idx="3">
                  <c:v>0.16002</c:v>
                </c:pt>
                <c:pt idx="4">
                  <c:v>0.067408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Binary cross-entropy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1BDF2-2D67-4E4A-A955-9118CD68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DEEP LEARNING INDIVIDUAL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B5BC4-EA7B-4F95-BF59-045E1962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7429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CNN Crop and Weed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Classification using VGG16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71634-6489-4705-8D75-78D5CEA9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CEDC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EDCE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EDCEC"/>
                </a:solidFill>
                <a:latin typeface="Arial"/>
                <a:ea typeface="Arial"/>
                <a:cs typeface="Arial"/>
              </a:rPr>
              <a:t>ImageNet transfer learning for binary seedling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F04EB-CB96-44F4-A2F0-63FF27B7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Nalacherla Shravan Kumar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23EG110C43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Roll Number 43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1D1DD-A255-45E4-849C-1BD5BC1C85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f877ce2074785"/>
          <a:stretch xmlns:a="http://schemas.openxmlformats.org/drawingml/2006/main"/>
        </p:blipFill>
        <p:spPr>
          <a:xfrm xmlns:a="http://schemas.openxmlformats.org/drawingml/2006/main">
            <a:off x="8882063" y="1095375"/>
            <a:ext cx="2047875" cy="20478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351BC-BF23-4B11-BCEA-9F235F0364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119393a944948"/>
          <a:stretch xmlns:a="http://schemas.openxmlformats.org/drawingml/2006/main"/>
        </p:blipFill>
        <p:spPr>
          <a:xfrm xmlns:a="http://schemas.openxmlformats.org/drawingml/2006/main">
            <a:off x="8882063" y="3590925"/>
            <a:ext cx="2047875" cy="2047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0C864-6DEB-4F15-8F28-A779A465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004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3F43A-7D15-4440-8C2F-11691755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695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9133"/>
                </a:solidFill>
                <a:latin typeface="Arial"/>
                <a:ea typeface="Arial"/>
                <a:cs typeface="Arial"/>
              </a:rPr>
              <a:t>WEED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E4453-6AC8-4F87-8C55-6C9C9863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BDCE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DCEE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CEE4"/>
                </a:solidFill>
                <a:latin typeface="Arial"/>
                <a:ea typeface="Arial"/>
                <a:cs typeface="Arial"/>
              </a:rPr>
              <a:t>Measured results from local CPU training</a:t>
            </a:r>
          </a:p>
        </p:txBody>
      </p:sp>
    </p:spTree>
    <p:extLst>
      <p:ext uri="{BB962C8B-B14F-4D97-AF65-F5344CB8AC3E}">
        <p14:creationId xmlns:p14="http://schemas.microsoft.com/office/powerpoint/2010/main" val="1201849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50270-3488-4B11-9B8F-E6AC2D64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6A959-3071-49A7-8ED1-D3DC760C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69F54-94B6-4D2B-93A9-FA86ED36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6E8"/>
                </a:solidFill>
                <a:latin typeface="Arial"/>
                <a:ea typeface="Arial"/>
                <a:cs typeface="Arial"/>
              </a:rPr>
              <a:t>Identify crops and weeds from one RGB seedling image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48171-44C0-488C-8688-6AE9F36A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14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9A1A4-5A65-476C-97F5-32B72D4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Nalacherla Shravan Kumar   23EG110C43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2D2A3-4878-4231-903B-29F8B8B6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The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F11B2-DEF4-4964-B93E-06AB8CA4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Given one plant image, predict Crop or Weed using the project’s species mapping.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863FD-3817-405F-A0D0-3FE82A44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Why it is challenging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E9950-F059-4C9A-B36B-0E728232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Young plants share leaf shapes and green colour.</a:t>
            </a:r>
          </a:p>
          <a:p xmlns:a="http://schemas.openxmlformats.org/drawingml/2006/main">
            <a:pPr>
              <a:defRPr sz="19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Weed images greatly outnumber crop images.</a:t>
            </a:r>
          </a:p>
          <a:p xmlns:a="http://schemas.openxmlformats.org/drawingml/2006/main">
            <a:pPr>
              <a:defRPr sz="19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Controlled backgrounds differ from field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4128E-66F8-4BFA-86AB-6B885170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86F93-73C3-4870-94DE-8F1C4C7B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716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Adapt pretrained VGG16 features and evaluate predictions on unseen test images.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2770A-EE51-4B85-BB42-98A1CECE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909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Binary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8F070-3027-4750-B84A-87BB2617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62425"/>
            <a:ext cx="2000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3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A9A6B-D2E8-49B7-984F-E72DC0B7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62425"/>
            <a:ext cx="2000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91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E3EC6-37C1-415E-81AB-9E3D2872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624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= Crop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E4686-CFA1-4765-8A17-008199F1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3624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= Weed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0296-BC35-4669-B11B-1090946A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Decision threshold: Weed probability ≥ 0.5</a:t>
            </a:r>
          </a:p>
        </p:txBody>
      </p:sp>
    </p:spTree>
    <p:extLst>
      <p:ext uri="{BB962C8B-B14F-4D97-AF65-F5344CB8AC3E}">
        <p14:creationId xmlns:p14="http://schemas.microsoft.com/office/powerpoint/2010/main" val="14735090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107738-262A-459E-85B7-3F973B34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5156B-408F-4370-9638-12BD0CAD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Dataset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CBF35-C883-4D06-A6FF-E9CC101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6E8"/>
                </a:solidFill>
                <a:latin typeface="Arial"/>
                <a:ea typeface="Arial"/>
                <a:cs typeface="Arial"/>
              </a:rPr>
              <a:t>V2 Plant Seedlings dataset from Kaggle and Aarhus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0AAEE-800E-4C64-9B61-6C31E355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14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5822D-B2D0-42F3-8CF5-46009C8D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Nalacherla Shravan Kumar   23EG110C43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E7482-F354-4DF4-B56B-C9BE88E1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Verified RGB 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A2E00-3056-4BCD-B9A5-85FBEF84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5539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CE32E-94EE-43A9-8C66-B143A2B2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3239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Plant species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4815A-BF49-4A93-A838-1DCA2233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6859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6AEEB-4109-4616-A133-C69DC365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Original dataset samples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C1CF5-4539-4804-B271-AE403B66B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68f82f1f24386"/>
          <a:stretch xmlns:a="http://schemas.openxmlformats.org/drawingml/2006/main"/>
        </p:blipFill>
        <p:spPr>
          <a:xfrm xmlns:a="http://schemas.openxmlformats.org/drawingml/2006/main">
            <a:off x="885825" y="31432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79EEB-151B-4282-8CDC-DD278E3C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364A"/>
                </a:solidFill>
                <a:latin typeface="Arial"/>
                <a:ea typeface="Arial"/>
                <a:cs typeface="Arial"/>
              </a:rPr>
              <a:t>Maize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D3C40-1C34-4B41-8DD5-49A52C7B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47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479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794F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F1AA7-33DA-4CB3-9983-2E7DFFC752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2a4b2686f4f08"/>
          <a:stretch xmlns:a="http://schemas.openxmlformats.org/drawingml/2006/main"/>
        </p:blipFill>
        <p:spPr>
          <a:xfrm xmlns:a="http://schemas.openxmlformats.org/drawingml/2006/main">
            <a:off x="2724150" y="31432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05440-01B3-4C78-BAE2-7DCDA29C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1338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364A"/>
                </a:solidFill>
                <a:latin typeface="Arial"/>
                <a:ea typeface="Arial"/>
                <a:cs typeface="Arial"/>
              </a:rPr>
              <a:t>Common Wheat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4A4A9-5A48-4812-8F9C-0663C942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62450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47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479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794F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CE337-B2F0-4771-9DD6-DC6407C815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686f1e3224dea"/>
          <a:stretch xmlns:a="http://schemas.openxmlformats.org/drawingml/2006/main"/>
        </p:blipFill>
        <p:spPr>
          <a:xfrm xmlns:a="http://schemas.openxmlformats.org/drawingml/2006/main">
            <a:off x="4562475" y="31432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88572-4FAD-43F7-8D46-C256688C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338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364A"/>
                </a:solidFill>
                <a:latin typeface="Arial"/>
                <a:ea typeface="Arial"/>
                <a:cs typeface="Arial"/>
              </a:rPr>
              <a:t>Sugar Beet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526EA-AB22-4552-8CAB-8CC8C991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62450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247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479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794F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9E112-7215-493A-BE4F-A646E48E76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f926c935347cb"/>
          <a:stretch xmlns:a="http://schemas.openxmlformats.org/drawingml/2006/main"/>
        </p:blipFill>
        <p:spPr>
          <a:xfrm xmlns:a="http://schemas.openxmlformats.org/drawingml/2006/main">
            <a:off x="885825" y="461010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DE189-0D37-4B4D-81CD-9A8BFD5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364A"/>
                </a:solidFill>
                <a:latin typeface="Arial"/>
                <a:ea typeface="Arial"/>
                <a:cs typeface="Arial"/>
              </a:rPr>
              <a:t>Charlock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9F90E-1A67-40C0-9CE0-8E78C198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ED91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D9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9133"/>
                </a:solidFill>
                <a:latin typeface="Arial"/>
                <a:ea typeface="Arial"/>
                <a:cs typeface="Arial"/>
              </a:rPr>
              <a:t>Weed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8527B-A135-4149-AFC3-9CD9C5619F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41e4568164fee"/>
          <a:stretch xmlns:a="http://schemas.openxmlformats.org/drawingml/2006/main"/>
        </p:blipFill>
        <p:spPr>
          <a:xfrm xmlns:a="http://schemas.openxmlformats.org/drawingml/2006/main">
            <a:off x="2724150" y="461010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C9DCE-371A-4B4A-913D-0B95DEB7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6007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364A"/>
                </a:solidFill>
                <a:latin typeface="Arial"/>
                <a:ea typeface="Arial"/>
                <a:cs typeface="Arial"/>
              </a:rPr>
              <a:t>Cleavers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9D84E-D3E4-4B58-B312-939D1CCB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829300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ED91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D9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9133"/>
                </a:solidFill>
                <a:latin typeface="Arial"/>
                <a:ea typeface="Arial"/>
                <a:cs typeface="Arial"/>
              </a:rPr>
              <a:t>Weed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D752ED-F724-4CEE-88E3-0FA9CFFAAE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e8312920846f1"/>
          <a:stretch xmlns:a="http://schemas.openxmlformats.org/drawingml/2006/main"/>
        </p:blipFill>
        <p:spPr>
          <a:xfrm xmlns:a="http://schemas.openxmlformats.org/drawingml/2006/main">
            <a:off x="4562475" y="461010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6C1E50-E466-4789-90D2-B4CE2EBF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007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364A"/>
                </a:solidFill>
                <a:latin typeface="Arial"/>
                <a:ea typeface="Arial"/>
                <a:cs typeface="Arial"/>
              </a:rPr>
              <a:t>Common Chickweed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7A4571-1E5D-41FE-961F-18DBC5EE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829300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ED91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D9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9133"/>
                </a:solidFill>
                <a:latin typeface="Arial"/>
                <a:ea typeface="Arial"/>
                <a:cs typeface="Arial"/>
              </a:rPr>
              <a:t>Weed</a:t>
            </a:r>
          </a:p>
        </p:txBody>
      </p:sp>
      <p:graphicFrame>
        <p:nvGraphicFrame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F68BE8-8706-4086-AD17-B741AAAA65CB}"/>
              </a:ext>
            </a:extLst>
          </p:cNvPr>
          <p:cNvGraphicFramePr/>
          <p:nvPr/>
        </p:nvGraphicFramePr>
        <p:xfrm>
          <a:off xmlns:a="http://schemas.openxmlformats.org/drawingml/2006/main" x="6667500" y="1400175"/>
          <a:ext xmlns:a="http://schemas.openxmlformats.org/drawingml/2006/main" cx="4991100" cy="4591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1276350"/>
              </a:tblGrid>
              <a:tr h="35315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Species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Images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Black-grass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309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Charlock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452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Cleavers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335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Common Chickweed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713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Common Wheat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253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Fat Hen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538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Loose Silky-bent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762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Maize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257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Scentless Mayweed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607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Shepherd’s Purse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274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Small-flowered Cranesbill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576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31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Sugar Beet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463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E00548-B342-4AB8-AF6B-7D94AC83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245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CC BY-SA 4.0. Original images recorded at several plant growth stages.</a:t>
            </a:r>
          </a:p>
        </p:txBody>
      </p:sp>
    </p:spTree>
    <p:extLst>
      <p:ext uri="{BB962C8B-B14F-4D97-AF65-F5344CB8AC3E}">
        <p14:creationId xmlns:p14="http://schemas.microsoft.com/office/powerpoint/2010/main" val="10714054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73543-6D79-4B3B-BBF4-D03F49FB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B5FE8-51EF-4ECB-A1F0-755CD2F6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Preprocessing and data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5A3DE-43CD-486F-BCFF-D97AA8C7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6E8"/>
                </a:solidFill>
                <a:latin typeface="Arial"/>
                <a:ea typeface="Arial"/>
                <a:cs typeface="Arial"/>
              </a:rPr>
              <a:t>Seed 42, binary stratification, augmentation only during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A0A81-0633-476B-8A81-9903B7CA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14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CB129-71A2-4161-9D06-79219FA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Nalacherla Shravan Kumar   23EG110C43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29D11-0EA6-4BC9-97C2-E6712ADF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Image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BBCDB-3412-4E98-AAB8-5AF9BE7E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542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34FD0-E671-4CE4-AD61-D7B8845A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335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RGB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C75BC-2CBC-42B0-946B-0731A7CE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46958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Resize to 224 × 224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F133E-569E-4839-B50B-08CD1DA7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542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5FFCD-43AC-4A5D-BE48-2E749F69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384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Training augmentation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2F827-A005-412E-99D7-A73C818B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38525"/>
            <a:ext cx="46958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Horizontal flip, small rotation, zoom and translation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7A859-72A4-43EA-B98E-0309C5F8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542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88C94-4A78-4B0A-A2F1-ECE3D19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43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VGG16 preprocessing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4C62C-A464-41EB-9CC3-5A02E2F1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43425"/>
            <a:ext cx="46958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RGB to BGR, subtract ImageNet channel means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7DA2F-38BC-429A-853C-82DA053C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9133"/>
                </a:solidFill>
                <a:latin typeface="Arial"/>
                <a:ea typeface="Arial"/>
                <a:cs typeface="Arial"/>
              </a:rPr>
              <a:t>Do not divide pixel values by 255.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7407FB2E-8A87-4A67-9F41-5F24AB8B8AF8}"/>
              </a:ext>
            </a:extLst>
          </p:cNvPr>
          <p:cNvGraphicFramePr/>
          <p:nvPr/>
        </p:nvGraphicFramePr>
        <p:xfrm>
          <a:off xmlns:a="http://schemas.openxmlformats.org/drawingml/2006/main" x="6648450" y="1381125"/>
          <a:ext xmlns:a="http://schemas.openxmlformats.org/drawingml/2006/main" cx="5010150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af50db8d634739"/>
          </a:graphicData>
        </a:graphic>
      </p:graphicFrame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0EBF9-59DF-446F-8292-32AC9E8E8F29}"/>
              </a:ext>
            </a:extLst>
          </p:cNvPr>
          <p:cNvGraphicFramePr/>
          <p:nvPr/>
        </p:nvGraphicFramePr>
        <p:xfrm>
          <a:off xmlns:a="http://schemas.openxmlformats.org/drawingml/2006/main" x="6648450" y="4324350"/>
          <a:ext xmlns:a="http://schemas.openxmlformats.org/drawingml/2006/main" cx="50101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52600"/>
                <a:gridCol w="1028700"/>
                <a:gridCol w="1028700"/>
                <a:gridCol w="1200150"/>
              </a:tblGrid>
              <a:tr h="3952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Crop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Weed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681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3196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3877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146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685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831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146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685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831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827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4F560D-1C6A-4604-A233-44A197E4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D6C94-426B-47FB-B08A-09B481CA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VGG16 model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05AE4-2700-4E08-9F92-865CDD95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6E8"/>
                </a:solidFill>
                <a:latin typeface="Arial"/>
                <a:ea typeface="Arial"/>
                <a:cs typeface="Arial"/>
              </a:rPr>
              <a:t>ImageNet convolution base with a binary classification head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D4E17-123C-4E72-8591-6F9FCD55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14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B76DA-EEA3-493F-8335-6C602EDD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Nalacherla Shravan Kumar   23EG110C43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B4ECF-F75C-420A-A295-6608B598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23975"/>
            <a:ext cx="10172700" cy="504825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863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9336A-1F79-4577-8B00-265D9241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4573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35427-78F2-458F-BC33-DF1AAEE2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57325"/>
            <a:ext cx="603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224 × 224 × 3 RGB pixels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C0606-2750-4F5A-AD69-2E15AECC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47850"/>
            <a:ext cx="17145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96D8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AC2A7-3408-4626-BCA1-8EC1D7CC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90725"/>
            <a:ext cx="10172700" cy="504825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CB7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A1751-29A1-4ADF-BEB9-7596A5C8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2407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Augment and preprocess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DF4FC-76EC-4457-B5C7-ED04286B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24075"/>
            <a:ext cx="603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transforms, then VGG16 channel means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04691-8B32-4470-B49E-EA7A85BB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7145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96D8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1CD75-4C2E-42FA-BFD9-37CF06F9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57475"/>
            <a:ext cx="10172700" cy="504825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863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F7C9F-2D0F-4561-99BD-806033EE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908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VGG16 convolution 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52CB1-CB16-47FF-929F-0982A04B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90825"/>
            <a:ext cx="603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 convolutions, 5 pooling blocks, ImageNet weights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64DE9-D205-457C-AD7D-8917755E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81350"/>
            <a:ext cx="17145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96D8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C1876-FDE7-4E90-A6BE-8D90EA32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24225"/>
            <a:ext cx="10172700" cy="504825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CB7C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897F6-33CE-4CCB-94E6-8AF495AC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45757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Global average pooling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179A6-1F6F-43FA-A1DD-975FFDC5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57575"/>
            <a:ext cx="603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 × 7 × 512 feature maps become 512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29116-8C69-4E71-92E9-C2F362ED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48100"/>
            <a:ext cx="17145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96D8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2C99A-6D50-477F-8E36-11531323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10172700" cy="504825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863A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962F0-F827-4F49-8A99-89F737BC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243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 layer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D1F111-0756-4982-A66A-BD3BAE90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24325"/>
            <a:ext cx="603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128 neurons with ReLU activation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97B0C-5AB4-4855-BE35-B127F02D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14850"/>
            <a:ext cx="17145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96D8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2E4A9E-B1BE-46F1-828B-EE2E80DF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57725"/>
            <a:ext cx="10172700" cy="504825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D91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A08CA-33B7-4DB6-BD9D-C9D1966E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79107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Dropout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2B609A-9174-47D1-A81A-63610B4B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91075"/>
            <a:ext cx="603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Rate 0.5 to limit overfitting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ACF80-5575-4325-AC52-1BA187E1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181600"/>
            <a:ext cx="17145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96D8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15F74D-780B-4285-85F7-1BD36A01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4475"/>
            <a:ext cx="10172700" cy="504825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CB7C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25D94-4B10-4DFE-82A4-4C08FA9A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4578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5CB69C-4FE4-47B0-94A2-3D27BD42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57825"/>
            <a:ext cx="603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sigmoid neuron: probability of Weed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B1E843-37C4-4E2A-B893-F889A478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53150"/>
            <a:ext cx="10172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Phase 1: all VGG16 layers frozen. Phase 2: only block5 trainable.</a:t>
            </a:r>
          </a:p>
        </p:txBody>
      </p:sp>
    </p:spTree>
    <p:extLst>
      <p:ext uri="{BB962C8B-B14F-4D97-AF65-F5344CB8AC3E}">
        <p14:creationId xmlns:p14="http://schemas.microsoft.com/office/powerpoint/2010/main" val="258935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E3E22-37FD-4173-8EE9-E59DF708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83B03-FBE2-46A1-8A91-0EC882A4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Hyperparameters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6AB51-9087-42BF-9955-98D4B850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6E8"/>
                </a:solidFill>
                <a:latin typeface="Arial"/>
                <a:ea typeface="Arial"/>
                <a:cs typeface="Arial"/>
              </a:rPr>
              <a:t>Settings used in the measured full-dataset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C398E-0B4C-47E8-9EED-90D8A83E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14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62E11-9534-459A-9567-3766CFA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Nalacherla Shravan Kumar   23EG110C43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CE260-F084-4640-A490-0B640B3C8C55}"/>
              </a:ext>
            </a:extLst>
          </p:cNvPr>
          <p:cNvGraphicFramePr/>
          <p:nvPr/>
        </p:nvGraphicFramePr>
        <p:xfrm>
          <a:off xmlns:a="http://schemas.openxmlformats.org/drawingml/2006/main" x="533400" y="1428750"/>
          <a:ext xmlns:a="http://schemas.openxmlformats.org/drawingml/2006/main" cx="7181850" cy="44481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52700"/>
                <a:gridCol w="4629150"/>
              </a:tblGrid>
              <a:tr h="40438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Parameter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Configured value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Input size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224 × 224 RGB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Batch size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Optimizer and loss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Adam, binary cross-entropy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Head training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3 epochs at learning rate 0.001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Block5 fine-tuning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2 epochs at learning rate 0.00001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Classification head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Dense 128 ReLU, Dropout 0.5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Class weights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Crop 2.847, Weed 0.607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Early stopping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Validation loss, patience 3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LR reduction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Factor 0.5, patience 2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38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Random seed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C70E1-1A89-4B0F-BBD9-016566D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00200"/>
            <a:ext cx="328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2ACEF-9616-4FCA-94B6-7D5AD181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24075"/>
            <a:ext cx="3286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Freeze the convolution base.</a:t>
            </a:r>
          </a:p>
          <a:p xmlns:a="http://schemas.openxmlformats.org/drawingml/2006/main">
            <a:pPr>
              <a:defRPr sz="20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Train the new binary head.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CA085-5E8D-469D-B614-328C2995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57575"/>
            <a:ext cx="328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9133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C2FDB-BB60-49A1-B53D-54B623B8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90975"/>
            <a:ext cx="3286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Enable block5 only.</a:t>
            </a:r>
          </a:p>
          <a:p xmlns:a="http://schemas.openxmlformats.org/drawingml/2006/main">
            <a:pPr>
              <a:defRPr sz="20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Recompile at a lower learning rate.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C4AD4-FDE4-47D5-A422-DB44C806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43525"/>
            <a:ext cx="3286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Reload the checkpoint with the lowest validation loss across both phases.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217F1-8D04-4A4B-8AA5-10B2CE28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05525"/>
            <a:ext cx="718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Laptop run budget shown above. The code also supports maximum budgets of 10 + 5 epochs.</a:t>
            </a:r>
          </a:p>
        </p:txBody>
      </p:sp>
    </p:spTree>
    <p:extLst>
      <p:ext uri="{BB962C8B-B14F-4D97-AF65-F5344CB8AC3E}">
        <p14:creationId xmlns:p14="http://schemas.microsoft.com/office/powerpoint/2010/main" val="1089389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2B257-19CF-4E76-B73D-7DD9DFBB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3B8D4-A9DD-4710-9B0D-3A32B97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5. Results: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4B4B7-A611-4B53-BBFB-D511890B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6E8"/>
                </a:solidFill>
                <a:latin typeface="Arial"/>
                <a:ea typeface="Arial"/>
                <a:cs typeface="Arial"/>
              </a:rPr>
              <a:t>Measured curves and evaluation on the untouched test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5EB78-73A2-4811-8286-59403AED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14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528D1-282D-4C31-8F4B-799F2036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Nalacherla Shravan Kumar   23EG110C43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92AB3D9-ED4D-410F-9AB8-C38CC69E7531}"/>
              </a:ext>
            </a:extLst>
          </p:cNvPr>
          <p:cNvGraphicFramePr/>
          <p:nvPr/>
        </p:nvGraphicFramePr>
        <p:xfrm>
          <a:off xmlns:a="http://schemas.openxmlformats.org/drawingml/2006/main" x="504825" y="1476375"/>
          <a:ext xmlns:a="http://schemas.openxmlformats.org/drawingml/2006/main" cx="7839075" cy="4419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4d4ce52f2a469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D9B23-C6B4-42E6-84EC-88C54062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782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Epochs 1–3: frozen VGG16. Epochs 4–5: block5 fine-tuning.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2FD3D-5E9D-43E9-ABC6-0A29BF83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04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Held-out test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FBDEA-6BCE-4C70-8105-202AB500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97.71%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B6FD6-FA4D-46A5-8E9C-DAEE7B88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670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Test images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49D4E-DCDF-4503-BAF1-9ADDDB0B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2897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831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FCE31-4C71-47DB-8F71-F9AAD4F2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352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0537C-A66B-42F5-8088-90C4E335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829175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5 measured epochs.</a:t>
            </a:r>
          </a:p>
          <a:p xmlns:a="http://schemas.openxmlformats.org/drawingml/2006/main">
            <a:pPr>
              <a:defRPr sz="187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Threshold: 0.5.</a:t>
            </a:r>
          </a:p>
          <a:p xmlns:a="http://schemas.openxmlformats.org/drawingml/2006/main">
            <a:pPr>
              <a:defRPr sz="187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Seed: 42.</a:t>
            </a:r>
          </a:p>
        </p:txBody>
      </p:sp>
    </p:spTree>
    <p:extLst>
      <p:ext uri="{BB962C8B-B14F-4D97-AF65-F5344CB8AC3E}">
        <p14:creationId xmlns:p14="http://schemas.microsoft.com/office/powerpoint/2010/main" val="10747243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DBA0B-8273-4E85-A960-D9A12F52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01571-78A9-486D-8D83-CF1694A6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5. Results: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68DF4-71DC-4BAA-9833-0623F252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6E8"/>
                </a:solidFill>
                <a:latin typeface="Arial"/>
                <a:ea typeface="Arial"/>
                <a:cs typeface="Arial"/>
              </a:rPr>
              <a:t>Validation loss selects the best checkpoint across both phases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B0DB0-8660-4BD0-B16D-CEEF4887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14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05DFD-5B3B-4724-82F8-FC1627C1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Nalacherla Shravan Kumar   23EG110C43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A9801DB-B24D-427A-8718-5AD5ADF6A99F}"/>
              </a:ext>
            </a:extLst>
          </p:cNvPr>
          <p:cNvGraphicFramePr/>
          <p:nvPr/>
        </p:nvGraphicFramePr>
        <p:xfrm>
          <a:off xmlns:a="http://schemas.openxmlformats.org/drawingml/2006/main" x="504825" y="1476375"/>
          <a:ext xmlns:a="http://schemas.openxmlformats.org/drawingml/2006/main" cx="7839075" cy="4419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374dc9b33340c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1CD9D-1178-4A5D-833C-A2738093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72175"/>
            <a:ext cx="7829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Epochs 1–3: frozen VGG16. Epochs 4–5: block5 fine-tuning.</a:t>
            </a:r>
          </a:p>
          <a:p xmlns:a="http://schemas.openxmlformats.org/drawingml/2006/main">
            <a:pPr>
              <a:defRPr sz="127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Training loss uses class weights. Validation loss is unweighted.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8AAED-4B18-4E68-AB9F-6B44D88B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04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Held-out test 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8030E-C3EC-4E85-85F5-566C9524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ED9133"/>
                </a:solidFill>
                <a:latin typeface="Arial"/>
                <a:ea typeface="Arial"/>
                <a:cs typeface="Arial"/>
              </a:rPr>
              <a:t>0.0760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CB380-225D-426F-B5E9-BEE5713B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670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06D5B-163D-4E3E-9F68-95D38B8A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2897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0.9918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33EEC-D997-4652-B60A-7675C54C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362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Checkpoint selection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7E7FA-E920-42AA-A351-4C79D2B7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83870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The saved model uses the lowest measured validation loss. Test data never selects the checkpoint.</a:t>
            </a:r>
          </a:p>
        </p:txBody>
      </p:sp>
    </p:spTree>
    <p:extLst>
      <p:ext uri="{BB962C8B-B14F-4D97-AF65-F5344CB8AC3E}">
        <p14:creationId xmlns:p14="http://schemas.microsoft.com/office/powerpoint/2010/main" val="11533395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15515-5E2B-40E8-99B3-86AFDACC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1A744-90F9-4AE0-8298-9546EDC0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5. Results: confusion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ABB2A-645C-4FC9-99B2-014B122C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6E8"/>
                </a:solidFill>
                <a:latin typeface="Arial"/>
                <a:ea typeface="Arial"/>
                <a:cs typeface="Arial"/>
              </a:rPr>
              <a:t>Rows are actual labels and columns are predicted labels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11680-0446-4889-9224-23F5EB07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14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A687E-E142-406B-B7D8-523B2544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Nalacherla Shravan Kumar   23EG110C43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BF3B7-013F-473D-809A-AA02EA22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Actual vs predicted labels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41223-3037-49F7-A94E-05785CAF3641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542925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1524000"/>
                <a:gridCol w="1524000"/>
              </a:tblGrid>
              <a:tr h="8890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/ Predicted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Crop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Weed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Crop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75" b="1">
                          <a:solidFill>
                            <a:srgbClr val="12213D"/>
                          </a:solidFill>
                          <a:latin typeface="Arial"/>
                          <a:ea typeface="Arial"/>
                          <a:cs typeface="Arial"/>
                        </a:rPr>
                        <a:t>131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D3E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75" b="1">
                          <a:solidFill>
                            <a:srgbClr val="12213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CE6CC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Weed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75" b="1">
                          <a:solidFill>
                            <a:srgbClr val="12213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CE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75" b="1">
                          <a:solidFill>
                            <a:srgbClr val="12213D"/>
                          </a:solidFill>
                          <a:latin typeface="Arial"/>
                          <a:ea typeface="Arial"/>
                          <a:cs typeface="Arial"/>
                        </a:rPr>
                        <a:t>681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D3E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68612-E574-49BD-8E53-39879668A13F}"/>
              </a:ext>
            </a:extLst>
          </p:cNvPr>
          <p:cNvGraphicFramePr/>
          <p:nvPr/>
        </p:nvGraphicFramePr>
        <p:xfrm>
          <a:off xmlns:a="http://schemas.openxmlformats.org/drawingml/2006/main" x="6515100" y="2066925"/>
          <a:ext xmlns:a="http://schemas.openxmlformats.org/drawingml/2006/main" cx="5143500" cy="2114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43000"/>
                <a:gridCol w="1333500"/>
                <a:gridCol w="1333500"/>
                <a:gridCol w="1333500"/>
              </a:tblGrid>
              <a:tr h="7048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T w="9525">
                      <a:solidFill>
                        <a:srgbClr val="D5E0ED"/>
                      </a:solidFill>
                      <a:prstDash val="solid"/>
                    </a:lnT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12213D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Crop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97.04%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89.73%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93.24%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Weed</a:t>
                      </a:r>
                    </a:p>
                  </a:txBody>
                  <a:tcPr marL="95250" marR="95250" marT="28575" marB="28575" anchor="ctr">
                    <a:lnL w="9525">
                      <a:solidFill>
                        <a:srgbClr val="D5E0ED"/>
                      </a:solidFill>
                      <a:prstDash val="solid"/>
                    </a:lnL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97.84%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99.42%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7364A"/>
                          </a:solidFill>
                          <a:latin typeface="Arial"/>
                          <a:ea typeface="Arial"/>
                          <a:cs typeface="Arial"/>
                        </a:rPr>
                        <a:t>98.62%</a:t>
                      </a:r>
                    </a:p>
                  </a:txBody>
                  <a:tcPr marL="95250" marR="95250" marT="28575" marB="28575" anchor="ctr">
                    <a:lnR w="9525">
                      <a:solidFill>
                        <a:srgbClr val="D5E0ED"/>
                      </a:solidFill>
                      <a:prstDash val="solid"/>
                    </a:lnR>
                    <a:lnB w="9525">
                      <a:solidFill>
                        <a:srgbClr val="D5E0ED"/>
                      </a:solidFill>
                      <a:prstDash val="solid"/>
                    </a:lnB>
                    <a:solidFill>
                      <a:srgbClr val="E6EEF8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F5495-A0AA-4405-BC34-CA97BD6B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2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13D"/>
                </a:solidFill>
                <a:latin typeface="Arial"/>
                <a:ea typeface="Arial"/>
                <a:cs typeface="Arial"/>
              </a:rPr>
              <a:t>Errors to inspect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1A6D9-C7DC-4336-A125-AB95FC9D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864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15 crop images predicted as Weed. 4 weed images predicted as Crop.</a:t>
            </a:r>
          </a:p>
        </p:txBody>
      </p:sp>
    </p:spTree>
    <p:extLst>
      <p:ext uri="{BB962C8B-B14F-4D97-AF65-F5344CB8AC3E}">
        <p14:creationId xmlns:p14="http://schemas.microsoft.com/office/powerpoint/2010/main" val="1373230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1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55403-8028-4F7B-852D-66EA2DAF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08AE2-02FC-4A77-8BDF-EF5DC8E0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5. Results: sample predictions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851B2-1725-473F-B50C-8BE525D9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6E8"/>
                </a:solidFill>
                <a:latin typeface="Arial"/>
                <a:ea typeface="Arial"/>
                <a:cs typeface="Arial"/>
              </a:rPr>
              <a:t>Original held-out test images and saved model probabilities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D7D1E-6CB5-4FF6-9748-CD84DBED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14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9EBAF-D1BA-4B33-A505-67A59554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Nalacherla Shravan Kumar   23EG110C43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40C2A-95CB-401A-BEF3-36068DA6B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d782339784e2e"/>
          <a:stretch xmlns:a="http://schemas.openxmlformats.org/drawingml/2006/main"/>
        </p:blipFill>
        <p:spPr>
          <a:xfrm xmlns:a="http://schemas.openxmlformats.org/drawingml/2006/main">
            <a:off x="1528763" y="1323975"/>
            <a:ext cx="1438275" cy="1438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0BF3E-B1EC-4125-81CC-DBA7AEEB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3495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247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479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794F"/>
                </a:solidFill>
                <a:latin typeface="Arial"/>
                <a:ea typeface="Arial"/>
                <a:cs typeface="Arial"/>
              </a:rPr>
              <a:t>Correct: Sugar Beet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E7281-8DEB-4812-B0E1-56529B88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Actual Crop  /  Predicted Crop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04AE3-710F-4163-B6FD-7A5D5509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347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Weed probability: 0.00%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5A8A6-F24A-4E06-8C79-D3D981CBD0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442f6a951470c"/>
          <a:stretch xmlns:a="http://schemas.openxmlformats.org/drawingml/2006/main"/>
        </p:blipFill>
        <p:spPr>
          <a:xfrm xmlns:a="http://schemas.openxmlformats.org/drawingml/2006/main">
            <a:off x="5319713" y="1323975"/>
            <a:ext cx="1438275" cy="14382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484A1-6EDC-4886-ADD4-AC5D3035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9875"/>
            <a:ext cx="3495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247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479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794F"/>
                </a:solidFill>
                <a:latin typeface="Arial"/>
                <a:ea typeface="Arial"/>
                <a:cs typeface="Arial"/>
              </a:rPr>
              <a:t>Correct: Sugar Beet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53DB5-F46B-40D0-B032-6EA38294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Actual Crop  /  Predicted Crop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CB11A-BA60-4AE6-A739-03256BEC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00425"/>
            <a:ext cx="347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Weed probability: 0.00%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AFC1B-0E96-4261-BBA1-DECD19DAE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694d08c9d4a9a"/>
          <a:stretch xmlns:a="http://schemas.openxmlformats.org/drawingml/2006/main"/>
        </p:blipFill>
        <p:spPr>
          <a:xfrm xmlns:a="http://schemas.openxmlformats.org/drawingml/2006/main">
            <a:off x="9110663" y="1323975"/>
            <a:ext cx="1438275" cy="14382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3E866-611C-483A-9CC4-8638F0F8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9875"/>
            <a:ext cx="3495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247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479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794F"/>
                </a:solidFill>
                <a:latin typeface="Arial"/>
                <a:ea typeface="Arial"/>
                <a:cs typeface="Arial"/>
              </a:rPr>
              <a:t>Correct: Charlock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48FD4-8984-46B5-BC4D-64DB49F2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Actual Weed  /  Predicted Weed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C536A-9A92-4B37-BD18-747F036C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0425"/>
            <a:ext cx="347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Weed probability: 99.89%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5EAFB-1B8A-4BFF-A891-6FA5CEB19B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f66ed59514a6a"/>
          <a:stretch xmlns:a="http://schemas.openxmlformats.org/drawingml/2006/main"/>
        </p:blipFill>
        <p:spPr>
          <a:xfrm xmlns:a="http://schemas.openxmlformats.org/drawingml/2006/main">
            <a:off x="1528763" y="3705225"/>
            <a:ext cx="1438275" cy="14382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3B1ED-76E0-4B63-B275-23A58C15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3495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247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479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794F"/>
                </a:solidFill>
                <a:latin typeface="Arial"/>
                <a:ea typeface="Arial"/>
                <a:cs typeface="Arial"/>
              </a:rPr>
              <a:t>Correct: Common Chickweed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7D8B7-5EDA-4834-916E-7DDAA2E8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Actual Weed  /  Predicted Weed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19B84-75EE-4101-8EB0-1BFDF508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81675"/>
            <a:ext cx="347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Weed probability: 100.00%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00518-8E08-4D2D-97E0-D231E35A6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483e202434c8f"/>
          <a:stretch xmlns:a="http://schemas.openxmlformats.org/drawingml/2006/main"/>
        </p:blipFill>
        <p:spPr>
          <a:xfrm xmlns:a="http://schemas.openxmlformats.org/drawingml/2006/main">
            <a:off x="5319713" y="3705225"/>
            <a:ext cx="1438275" cy="14382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09D1F-45CB-4017-9803-00DEED11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91125"/>
            <a:ext cx="3495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D9133"/>
                </a:solidFill>
                <a:latin typeface="Arial"/>
                <a:ea typeface="Arial"/>
                <a:cs typeface="Arial"/>
              </a:rPr>
              <a:t>Error: Maize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808F4A-217C-4B8A-B279-77CC511E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054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Actual Crop  /  Predicted Weed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071488-E117-4B08-A2C6-DD53AD8A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81675"/>
            <a:ext cx="347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Weed probability: 96.03%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75D74-F9F1-46FF-A6E5-2D144F89E3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5b90320574c08"/>
          <a:stretch xmlns:a="http://schemas.openxmlformats.org/drawingml/2006/main"/>
        </p:blipFill>
        <p:spPr>
          <a:xfrm xmlns:a="http://schemas.openxmlformats.org/drawingml/2006/main">
            <a:off x="9110663" y="3705225"/>
            <a:ext cx="1438275" cy="143827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2AD13C-775E-4B10-9ED7-70ADA0D0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91125"/>
            <a:ext cx="3495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D91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D9133"/>
                </a:solidFill>
                <a:latin typeface="Arial"/>
                <a:ea typeface="Arial"/>
                <a:cs typeface="Arial"/>
              </a:rPr>
              <a:t>Error: Black-grass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0FA1AC-D4D8-4675-BCAA-22651E65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054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Actual Weed  /  Predicted Crop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4A5F6-48C0-4A71-8531-DAD814C3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81675"/>
            <a:ext cx="347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Weed probability: 22.65%</a:t>
            </a:r>
          </a:p>
        </p:txBody>
      </p:sp>
    </p:spTree>
    <p:extLst>
      <p:ext uri="{BB962C8B-B14F-4D97-AF65-F5344CB8AC3E}">
        <p14:creationId xmlns:p14="http://schemas.microsoft.com/office/powerpoint/2010/main" val="2111858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1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9CC9B-42C1-4FAB-93D6-DAFC6742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097B5-AFB8-4A78-A00C-771686CE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6.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6CEF2-570B-44FA-A0A3-9AD23768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6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6E8"/>
                </a:solidFill>
                <a:latin typeface="Arial"/>
                <a:ea typeface="Arial"/>
                <a:cs typeface="Arial"/>
              </a:rPr>
              <a:t>Measured outcome, limitations and future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8E2BF-EBCE-4EBA-A868-7C723FA5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14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CB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7C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A539B-63E2-4D6E-8658-55224AE8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D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D84"/>
                </a:solidFill>
                <a:latin typeface="Arial"/>
                <a:ea typeface="Arial"/>
                <a:cs typeface="Arial"/>
              </a:rPr>
              <a:t>Nalacherla Shravan Kumar   23EG110C43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6DC77-9C8B-4C9B-AD85-218DD487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What was implemented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99691-1EB2-47CE-8671-D8A898A7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A complete local VGG16 transfer-learning pipeline with verified data, disjoint splits, saved checkpoints and test predictions.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8B9DC-0330-4E74-9AF6-55FB4F87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289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Measured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74F2D-AC03-4BA1-A54B-710BF288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97.71% test accuracy and 0.0760 test loss on 831 images.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AED4-2342-443D-B8B6-C4414FA0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Accuracy exceeds the 82.43% majority-Weed baseline on this image split.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2A9C2-8387-4690-87C1-A9C999DE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863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3A6"/>
                </a:solidFill>
                <a:latin typeface="Arial"/>
                <a:ea typeface="Arial"/>
                <a:cs typeface="Arial"/>
              </a:rPr>
              <a:t>Limitations and next steps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2C300-E77E-43CD-98BC-A79435B8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Controlled backgrounds and repeated plant identities limit generalization.</a:t>
            </a:r>
          </a:p>
          <a:p xmlns:a="http://schemas.openxmlformats.org/drawingml/2006/main">
            <a:pPr>
              <a:defRPr sz="1950" b="0">
                <a:solidFill>
                  <a:srgbClr val="2736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364A"/>
                </a:solidFill>
                <a:latin typeface="Arial"/>
                <a:ea typeface="Arial"/>
                <a:cs typeface="Arial"/>
              </a:rPr>
              <a:t>Next: verify plant-level splits, collect field images and tune decision thresholds.</a:t>
            </a:r>
          </a:p>
        </p:txBody>
      </p:sp>
    </p:spTree>
    <p:extLst>
      <p:ext uri="{BB962C8B-B14F-4D97-AF65-F5344CB8AC3E}">
        <p14:creationId xmlns:p14="http://schemas.microsoft.com/office/powerpoint/2010/main" val="1939744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2026-10-13T02:54:25.1770000Z</dcterms:created>
  <dcterms:modified xsi:type="dcterms:W3CDTF">2026-10-13T02:54:25.1770000Z</dcterms:modified>
</coreProperties>
</file>